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0df190dc1448c4" /><Relationship Type="http://schemas.openxmlformats.org/officeDocument/2006/relationships/extended-properties" Target="/docProps/app.xml" Id="R6f0a21e2b70b4f00" /><Relationship Type="http://schemas.openxmlformats.org/officeDocument/2006/relationships/officeDocument" Target="/ppt/presentation.xml" Id="Rd9c5e91e722443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27316836904eab"/>
  </p:sldMasterIdLst>
  <p:notesMasterIdLst>
    <p:notesMasterId xmlns:r="http://schemas.openxmlformats.org/officeDocument/2006/relationships" r:id="R3930c2a882ee4d28"/>
  </p:notesMasterIdLst>
  <p:sldIdLst>
    <p:sldId xmlns:r="http://schemas.openxmlformats.org/officeDocument/2006/relationships" id="256" r:id="R3ed48669e55b4162"/>
    <p:sldId xmlns:r="http://schemas.openxmlformats.org/officeDocument/2006/relationships" id="257" r:id="Rb182146e164c4bea"/>
    <p:sldId xmlns:r="http://schemas.openxmlformats.org/officeDocument/2006/relationships" id="258" r:id="Rf6f70d4ffe754200"/>
    <p:sldId xmlns:r="http://schemas.openxmlformats.org/officeDocument/2006/relationships" id="259" r:id="Red339f252bb94eca"/>
    <p:sldId xmlns:r="http://schemas.openxmlformats.org/officeDocument/2006/relationships" id="260" r:id="Re07154d6994c4f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cacd6d07e2426a" /><Relationship Type="http://schemas.openxmlformats.org/officeDocument/2006/relationships/slideMaster" Target="/ppt/slideMasters/slideMaster1.xml" Id="Rcd27316836904eab" /><Relationship Type="http://schemas.openxmlformats.org/officeDocument/2006/relationships/notesMaster" Target="/ppt/notesMasters/notesMaster1.xml" Id="R3930c2a882ee4d28" /><Relationship Type="http://schemas.openxmlformats.org/officeDocument/2006/relationships/presProps" Target="/ppt/presProps.xml" Id="Rb78372ece1614dde" /><Relationship Type="http://schemas.openxmlformats.org/officeDocument/2006/relationships/tableStyles" Target="/ppt/tableStyles.xml" Id="R3597d7840d504920" /><Relationship Type="http://schemas.openxmlformats.org/officeDocument/2006/relationships/slide" Target="/ppt/slides/slide1.xml" Id="R3ed48669e55b4162" /><Relationship Type="http://schemas.openxmlformats.org/officeDocument/2006/relationships/slide" Target="/ppt/slides/slide2.xml" Id="Rb182146e164c4bea" /><Relationship Type="http://schemas.openxmlformats.org/officeDocument/2006/relationships/slide" Target="/ppt/slides/slide3.xml" Id="Rf6f70d4ffe754200" /><Relationship Type="http://schemas.openxmlformats.org/officeDocument/2006/relationships/slide" Target="/ppt/slides/slide4.xml" Id="Red339f252bb94eca" /><Relationship Type="http://schemas.openxmlformats.org/officeDocument/2006/relationships/slide" Target="/ppt/slides/slide5.xml" Id="Re07154d6994c4f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1c228d98cd4b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7c8026c8c247cb" /><Relationship Type="http://schemas.openxmlformats.org/officeDocument/2006/relationships/notesMaster" Target="/ppt/notesMasters/notesMaster1.xml" Id="R78eac0be6d2048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e7b78b9bab476b" /><Relationship Type="http://schemas.openxmlformats.org/officeDocument/2006/relationships/notesMaster" Target="/ppt/notesMasters/notesMaster1.xml" Id="R85bcb1aa584a47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14a2cf24c146d0" /><Relationship Type="http://schemas.openxmlformats.org/officeDocument/2006/relationships/notesMaster" Target="/ppt/notesMasters/notesMaster1.xml" Id="R8779f38610564f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93169f53d844a2" /><Relationship Type="http://schemas.openxmlformats.org/officeDocument/2006/relationships/notesMaster" Target="/ppt/notesMasters/notesMaster1.xml" Id="R9ad2d98483d942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4ac44bd4924d8c" /><Relationship Type="http://schemas.openxmlformats.org/officeDocument/2006/relationships/notesMaster" Target="/ppt/notesMasters/notesMaster1.xml" Id="Rab593f5eb02141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core belief is that a customer should be able to speak naturally, while the business keeps deterministic control over facts and actions.</a:t>
            </a:r>
          </a:p>
          <a:p xmlns:a="http://schemas.openxmlformats.org/drawingml/2006/main">
            <a:r>
              <a:t>Bookly reflects that split directly: the model interprets language and writes grounded FAQ prose; TypeScript workflows own identity, policy, confirmation, tool calls, and writes.</a:t>
            </a:r>
          </a:p>
          <a:p xmlns:a="http://schemas.openxmlformats.org/drawingml/2006/main">
            <a:r>
              <a:t>I kept the scope intentionally narrow so those boundaries are visible in a live review rather than hidden inside an agent framework.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 brief supplied by the user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API validates a small request contract and hands the message to BooklyAgent.</a:t>
            </a:r>
          </a:p>
          <a:p xmlns:a="http://schemas.openxmlformats.org/drawingml/2006/main">
            <a:r>
              <a:t>The intent prompt is a direct Responses API call with Structured Output. It proposes intent, literal slots, and a contextAction; it never receives tools.</a:t>
            </a:r>
          </a:p>
          <a:p xmlns:a="http://schemas.openxmlformats.org/drawingml/2006/main">
            <a:r>
              <a:t>BooklyAgent validates those proposed slots against the message, owns structured session memory, and dispatches one explicit workflow.</a:t>
            </a:r>
          </a:p>
          <a:p xmlns:a="http://schemas.openxmlformats.org/drawingml/2006/main">
            <a:r>
              <a:t>The FAQ path uses a second prompt only after deterministic retrieval. The application accepts the answer only when every cited passage ID was actually retrieved.</a:t>
            </a:r>
          </a:p>
          <a:p xmlns:a="http://schemas.openxmlformats.org/drawingml/2006/main">
            <a:r>
              <a:t>The action path is entirely typed code. Reads establish identity and eligibility; a deterministic confirmation policy stages permission; createReturn independently rechecks the write conditions and idempotency.</a:t>
            </a:r>
          </a:p>
          <a:p xmlns:a="http://schemas.openxmlformats.org/drawingml/2006/main">
            <a:r>
              <a:t>The trace shows allowlisted routing, memory, tool, and guardrail metadata without prompts, customer text, or private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src/server.ts</a:t>
            </a:r>
          </a:p>
          <a:p xmlns:a="http://schemas.openxmlformats.org/drawingml/2006/main">
            <a:r>
              <a:t>- src/agent/bookly-agent.ts</a:t>
            </a:r>
          </a:p>
          <a:p xmlns:a="http://schemas.openxmlformats.org/drawingml/2006/main">
            <a:r>
              <a:t>- src/providers/openai-intent-router.ts</a:t>
            </a:r>
          </a:p>
          <a:p xmlns:a="http://schemas.openxmlformats.org/drawingml/2006/main">
            <a:r>
              <a:t>- src/agent/session-memory.ts</a:t>
            </a:r>
          </a:p>
          <a:p xmlns:a="http://schemas.openxmlformats.org/drawingml/2006/main">
            <a:r>
              <a:t>- src/workflows/faq-workflow.ts</a:t>
            </a:r>
          </a:p>
          <a:p xmlns:a="http://schemas.openxmlformats.org/drawingml/2006/main">
            <a:r>
              <a:t>- src/workflows/return-workflow.ts</a:t>
            </a:r>
          </a:p>
          <a:p xmlns:a="http://schemas.openxmlformats.org/drawingml/2006/main">
            <a:r>
              <a:t>- src/tools/mock-bookly-tools.ts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one is the architectural thesis in code: the model interprets language, but BooklyAgent validates context and owns dispatch.</a:t>
            </a:r>
          </a:p>
          <a:p xmlns:a="http://schemas.openxmlformats.org/drawingml/2006/main">
            <a:r>
              <a:t>Decision two is the hallucination boundary. Retrieval is deterministic, the answer prompt gets only approved passages, and citation membership is checked before any generated prose is shown.</a:t>
            </a:r>
          </a:p>
          <a:p xmlns:a="http://schemas.openxmlformats.org/drawingml/2006/main">
            <a:r>
              <a:t>Decision three is the write boundary. Natural confirmation is supported, but the parser and createReturn both live in code and the tool independently enforces confirmation, identity, policy, and idempotency.</a:t>
            </a:r>
          </a:p>
          <a:p xmlns:a="http://schemas.openxmlformats.org/drawingml/2006/main">
            <a:r>
              <a:t>The tradeoff is intentional: there is more explicit TypeScript than in a general agent loop, but the risky behavior is readable and testable in a live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docs/DECISIONS.md</a:t>
            </a:r>
          </a:p>
          <a:p xmlns:a="http://schemas.openxmlformats.org/drawingml/2006/main">
            <a:r>
              <a:t>- src/agent/bookly-agent.ts</a:t>
            </a:r>
          </a:p>
          <a:p xmlns:a="http://schemas.openxmlformats.org/drawingml/2006/main">
            <a:r>
              <a:t>- src/providers/openai-intent-router.ts</a:t>
            </a:r>
          </a:p>
          <a:p xmlns:a="http://schemas.openxmlformats.org/drawingml/2006/main">
            <a:r>
              <a:t>- src/workflows/faq-workflow.ts</a:t>
            </a:r>
          </a:p>
          <a:p xmlns:a="http://schemas.openxmlformats.org/drawingml/2006/main">
            <a:r>
              <a:t>- src/agent/confirmation-policy.ts</a:t>
            </a:r>
          </a:p>
          <a:p xmlns:a="http://schemas.openxmlformats.org/drawingml/2006/main">
            <a:r>
              <a:t>- src/tools/mock-bookly-tools.ts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customer-experience decisions as much as safety decisions. The agent should not make the customer repeat verified information, but it must not carry context across a different order or customer.</a:t>
            </a:r>
          </a:p>
          <a:p xmlns:a="http://schemas.openxmlformats.org/drawingml/2006/main">
            <a:r>
              <a:t>A pending return is a staged write. Any changed identity or reason invalidates the prior confirmation and forces the workflow to validate the new facts.</a:t>
            </a:r>
          </a:p>
          <a:p xmlns:a="http://schemas.openxmlformats.org/drawingml/2006/main">
            <a:r>
              <a:t>After a return is created, label or refund problems are a separate existing-return route. That path can offer the specialist handoff but can never replay createReturn.</a:t>
            </a:r>
          </a:p>
          <a:p xmlns:a="http://schemas.openxmlformats.org/drawingml/2006/main">
            <a:r>
              <a:t>The final suite has 196 tests covering both routers, multi-turn memory, grounding, write safety, tool failures, HTTP behavior, reset, duplicate protection, and aftercare.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src/agent/bookly-agent.ts</a:t>
            </a:r>
          </a:p>
          <a:p xmlns:a="http://schemas.openxmlformats.org/drawingml/2006/main">
            <a:r>
              <a:t>- src/agent/handoff-policy.ts</a:t>
            </a:r>
          </a:p>
          <a:p xmlns:a="http://schemas.openxmlformats.org/drawingml/2006/main">
            <a:r>
              <a:t>- src/workflows/tool-failure.ts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production change is not another intent. It is moving identity and workflow state out of the conversational demo boundary.</a:t>
            </a:r>
          </a:p>
          <a:p xmlns:a="http://schemas.openxmlformats.org/drawingml/2006/main">
            <a:r>
              <a:t>Authenticated identity prevents cross-account access. Durable pending actions and audit history make retries resumable, idempotent, and attributable to a customer and policy version.</a:t>
            </a:r>
          </a:p>
          <a:p xmlns:a="http://schemas.openxmlformats.org/drawingml/2006/main">
            <a:r>
              <a:t>Only after that boundary is in place would I connect real order, carrier, returns, and help-desk systems or broaden the action set.</a:t>
            </a:r>
          </a:p>
          <a:p xmlns:a="http://schemas.openxmlformats.org/drawingml/2006/main">
            <a:r>
              <a:t>The existing 196-test suite is useful prototype evidence, but production would add offline conversation evals, policy versioning, latency and failure dashboards, and staged rollout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src/tools/mock-bookly-tools.ts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2347f2eab42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0d76407e5040f9" /><Relationship Type="http://schemas.openxmlformats.org/officeDocument/2006/relationships/slideLayout" Target="/ppt/slideLayouts/slideLayout1.xml" Id="R93a671479f7644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a671479f7644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60ee1d7864008" /><Relationship Type="http://schemas.openxmlformats.org/officeDocument/2006/relationships/notesSlide" Target="/ppt/notesSlides/notesSlide1.xml" Id="R3584c6a22abf4b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bb1ff3f164e86" /><Relationship Type="http://schemas.openxmlformats.org/officeDocument/2006/relationships/notesSlide" Target="/ppt/notesSlides/notesSlide2.xml" Id="R29901e7f4f5246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5be3ef2504d08" /><Relationship Type="http://schemas.openxmlformats.org/officeDocument/2006/relationships/notesSlide" Target="/ppt/notesSlides/notesSlide3.xml" Id="R61eb58929f6b41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22f6991674465" /><Relationship Type="http://schemas.openxmlformats.org/officeDocument/2006/relationships/notesSlide" Target="/ppt/notesSlides/notesSlide4.xml" Id="Rb48d761d7b4a4e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8ad90a1294dd2" /><Relationship Type="http://schemas.openxmlformats.org/officeDocument/2006/relationships/notesSlide" Target="/ppt/notesSlides/notesSlide5.xml" Id="Rc908e21e4e2f49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supertitle">
            <a:extLst xmlns:a="http://schemas.openxmlformats.org/drawingml/2006/main">
              <a:ext uri="{FF2B5EF4-FFF2-40B4-BE49-F238E27FC236}">
                <a16:creationId xmlns:a16="http://schemas.microsoft.com/office/drawing/2014/main" id="{4D5621D8-74AB-4BC0-907E-FC88B996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714B"/>
                </a:solidFill>
              </a:defRPr>
            </a:pPr>
            <a:r>
              <a:rPr sz="1350" b="1">
                <a:solidFill>
                  <a:srgbClr val="1F714B"/>
                </a:solidFill>
              </a:rPr>
              <a:t>DECAGON SOLUTIONS ENGINEERING · TAKE-HOME</a:t>
            </a:r>
          </a:p>
        </p:txBody>
      </p:sp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487F8C2F-0251-4B5A-B263-4804A312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BOOKLY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5E4F12A-D64F-4905-B101-2980574F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1930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CF19AFD2-09E6-4A2D-BA2E-EA13E44D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10668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A great CX agent understands natural language without letting the model control business actions.</a:t>
            </a:r>
          </a:p>
        </p:txBody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0C467869-B1F4-4286-B8C9-9CBFE431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29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57"/>
                </a:solidFill>
              </a:defRPr>
            </a:pPr>
            <a:r>
              <a:rPr sz="1500" b="0">
                <a:solidFill>
                  <a:srgbClr val="555B57"/>
                </a:solidFill>
              </a:rPr>
              <a:t>Bookly uses OpenAI for intent and grounded FAQ prose; typed workflows verify identity, policy, confirmation, and writes.</a:t>
            </a:r>
          </a:p>
        </p:txBody>
      </p:sp>
    </p:spTree>
    <p:extLst>
      <p:ext uri="{BB962C8B-B14F-4D97-AF65-F5344CB8AC3E}">
        <p14:creationId xmlns:p14="http://schemas.microsoft.com/office/powerpoint/2010/main" val="205636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ifecycle-title">
            <a:extLst xmlns:a="http://schemas.openxmlformats.org/drawingml/2006/main">
              <a:ext uri="{FF2B5EF4-FFF2-40B4-BE49-F238E27FC236}">
                <a16:creationId xmlns:a16="http://schemas.microsoft.com/office/drawing/2014/main" id="{244D039C-2643-42A4-9F30-6671E77B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How a customer message moves through Bookly</a:t>
            </a:r>
          </a:p>
        </p:txBody>
      </p:sp>
      <p:sp>
        <p:nvSpPr>
          <p:cNvPr id="2" name="lifecycle-subtitle">
            <a:extLst xmlns:a="http://schemas.openxmlformats.org/drawingml/2006/main">
              <a:ext uri="{FF2B5EF4-FFF2-40B4-BE49-F238E27FC236}">
                <a16:creationId xmlns:a16="http://schemas.microsoft.com/office/drawing/2014/main" id="{0E159B95-645C-458B-94E8-D127FDB7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90625"/>
            <a:ext cx="11401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57"/>
                </a:solidFill>
              </a:defRPr>
            </a:pPr>
            <a:r>
              <a:rPr sz="1575" b="0">
                <a:solidFill>
                  <a:srgbClr val="555B57"/>
                </a:solidFill>
              </a:rPr>
              <a:t>The model proposes intent and context. The orchestrator validates state and chooses a typed workflow.</a:t>
            </a:r>
          </a:p>
        </p:txBody>
      </p:sp>
      <p:sp>
        <p:nvSpPr>
          <p:cNvPr id="16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C01A5B26-636B-4D04-B49A-08FB4CE3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2</a:t>
            </a:r>
          </a:p>
        </p:txBody>
      </p:sp>
      <p:sp>
        <p:nvSpPr>
          <p:cNvPr id="18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A5C4A632-1E14-4CF1-B9EF-1AC2FFA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479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7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A2D18B76-3D43-4D9B-900D-729B0553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479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7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0104B905-4078-4AEB-B426-91128279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479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7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ch-customer-card">
            <a:extLst xmlns:a="http://schemas.openxmlformats.org/drawingml/2006/main">
              <a:ext uri="{FF2B5EF4-FFF2-40B4-BE49-F238E27FC236}">
                <a16:creationId xmlns:a16="http://schemas.microsoft.com/office/drawing/2014/main" id="{C1BA52C6-E102-42ED-AC00-BBE4D99E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0"/>
            <a:ext cx="20002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BC"/>
            </a:solidFill>
            <a:prstDash val="solid"/>
          </a:ln>
        </p:spPr>
      </p:sp>
      <p:sp>
        <p:nvSpPr>
          <p:cNvPr id="22" name="arch-customer-title">
            <a:extLst xmlns:a="http://schemas.openxmlformats.org/drawingml/2006/main">
              <a:ext uri="{FF2B5EF4-FFF2-40B4-BE49-F238E27FC236}">
                <a16:creationId xmlns:a16="http://schemas.microsoft.com/office/drawing/2014/main" id="{633B6355-50C9-446A-87BC-DCD41605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193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Customer + API</a:t>
            </a:r>
          </a:p>
        </p:txBody>
      </p:sp>
      <p:sp>
        <p:nvSpPr>
          <p:cNvPr id="23" name="arch-customer-body">
            <a:extLst xmlns:a="http://schemas.openxmlformats.org/drawingml/2006/main">
              <a:ext uri="{FF2B5EF4-FFF2-40B4-BE49-F238E27FC236}">
                <a16:creationId xmlns:a16="http://schemas.microsoft.com/office/drawing/2014/main" id="{391AA69D-DFC8-4D3F-A659-672E279F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241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Validated request</a:t>
            </a:r>
          </a:p>
        </p:txBody>
      </p:sp>
      <p:sp>
        <p:nvSpPr>
          <p:cNvPr id="24" name="arch-router-card">
            <a:extLst xmlns:a="http://schemas.openxmlformats.org/drawingml/2006/main">
              <a:ext uri="{FF2B5EF4-FFF2-40B4-BE49-F238E27FC236}">
                <a16:creationId xmlns:a16="http://schemas.microsoft.com/office/drawing/2014/main" id="{FC336C62-FE01-4027-A89C-93FB8B2A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05000"/>
            <a:ext cx="22860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BC"/>
            </a:solidFill>
            <a:prstDash val="solid"/>
          </a:ln>
        </p:spPr>
      </p:sp>
      <p:sp>
        <p:nvSpPr>
          <p:cNvPr id="25" name="arch-router-title">
            <a:extLst xmlns:a="http://schemas.openxmlformats.org/drawingml/2006/main">
              <a:ext uri="{FF2B5EF4-FFF2-40B4-BE49-F238E27FC236}">
                <a16:creationId xmlns:a16="http://schemas.microsoft.com/office/drawing/2014/main" id="{786994FD-8E31-4E98-AAFA-0872D97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193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Intent prompt</a:t>
            </a:r>
          </a:p>
        </p:txBody>
      </p:sp>
      <p:sp>
        <p:nvSpPr>
          <p:cNvPr id="26" name="arch-router-body">
            <a:extLst xmlns:a="http://schemas.openxmlformats.org/drawingml/2006/main">
              <a:ext uri="{FF2B5EF4-FFF2-40B4-BE49-F238E27FC236}">
                <a16:creationId xmlns:a16="http://schemas.microsoft.com/office/drawing/2014/main" id="{F87117BD-5551-44C3-8FCB-0F3574F2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intent · slots · contextAction</a:t>
            </a:r>
          </a:p>
        </p:txBody>
      </p:sp>
      <p:sp>
        <p:nvSpPr>
          <p:cNvPr id="27" name="arch-orchestrator-card">
            <a:extLst xmlns:a="http://schemas.openxmlformats.org/drawingml/2006/main">
              <a:ext uri="{FF2B5EF4-FFF2-40B4-BE49-F238E27FC236}">
                <a16:creationId xmlns:a16="http://schemas.microsoft.com/office/drawing/2014/main" id="{221B241C-C9A1-4FBC-8F2B-D4A7893E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905000"/>
            <a:ext cx="28575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54C35"/>
          </a:solidFill>
          <a:ln xmlns:a="http://schemas.openxmlformats.org/drawingml/2006/main" w="9525">
            <a:solidFill>
              <a:srgbClr val="154C35"/>
            </a:solidFill>
            <a:prstDash val="solid"/>
          </a:ln>
        </p:spPr>
      </p:sp>
      <p:sp>
        <p:nvSpPr>
          <p:cNvPr id="28" name="arch-orchestrator-title">
            <a:extLst xmlns:a="http://schemas.openxmlformats.org/drawingml/2006/main">
              <a:ext uri="{FF2B5EF4-FFF2-40B4-BE49-F238E27FC236}">
                <a16:creationId xmlns:a16="http://schemas.microsoft.com/office/drawing/2014/main" id="{CCA3ADEE-58F2-49C6-851B-DF655440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193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BooklyAgent</a:t>
            </a:r>
          </a:p>
        </p:txBody>
      </p:sp>
      <p:sp>
        <p:nvSpPr>
          <p:cNvPr id="29" name="arch-orchestrator-body">
            <a:extLst xmlns:a="http://schemas.openxmlformats.org/drawingml/2006/main">
              <a:ext uri="{FF2B5EF4-FFF2-40B4-BE49-F238E27FC236}">
                <a16:creationId xmlns:a16="http://schemas.microsoft.com/office/drawing/2014/main" id="{A808F34A-B942-4383-8A4C-DE8732EF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241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Orchestration + structured memory</a:t>
            </a:r>
          </a:p>
        </p:txBody>
      </p:sp>
      <p:sp>
        <p:nvSpPr>
          <p:cNvPr id="30" name="arch-trace-card">
            <a:extLst xmlns:a="http://schemas.openxmlformats.org/drawingml/2006/main">
              <a:ext uri="{FF2B5EF4-FFF2-40B4-BE49-F238E27FC236}">
                <a16:creationId xmlns:a16="http://schemas.microsoft.com/office/drawing/2014/main" id="{4B5619E7-AE44-4C27-94F3-E9833861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05000"/>
            <a:ext cx="23812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BC"/>
            </a:solidFill>
            <a:prstDash val="solid"/>
          </a:ln>
        </p:spPr>
      </p:sp>
      <p:sp>
        <p:nvSpPr>
          <p:cNvPr id="31" name="arch-trace-title">
            <a:extLst xmlns:a="http://schemas.openxmlformats.org/drawingml/2006/main">
              <a:ext uri="{FF2B5EF4-FFF2-40B4-BE49-F238E27FC236}">
                <a16:creationId xmlns:a16="http://schemas.microsoft.com/office/drawing/2014/main" id="{69E236CA-F712-4EAB-9DA2-5ECE0399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193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Reply + trace</a:t>
            </a:r>
          </a:p>
        </p:txBody>
      </p:sp>
      <p:sp>
        <p:nvSpPr>
          <p:cNvPr id="32" name="arch-trace-body">
            <a:extLst xmlns:a="http://schemas.openxmlformats.org/drawingml/2006/main">
              <a:ext uri="{FF2B5EF4-FFF2-40B4-BE49-F238E27FC236}">
                <a16:creationId xmlns:a16="http://schemas.microsoft.com/office/drawing/2014/main" id="{F6F48061-1BBE-4893-9459-87249EC9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Verified result or safe handoff</a:t>
            </a:r>
          </a:p>
        </p:txBody>
      </p:sp>
      <p:sp>
        <p:nvSpPr>
          <p:cNvPr id="33" name="arch-read-band">
            <a:extLst xmlns:a="http://schemas.openxmlformats.org/drawingml/2006/main">
              <a:ext uri="{FF2B5EF4-FFF2-40B4-BE49-F238E27FC236}">
                <a16:creationId xmlns:a16="http://schemas.microsoft.com/office/drawing/2014/main" id="{69C8AF16-C333-4800-8BC5-6816136C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19450"/>
            <a:ext cx="114014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BC"/>
            </a:solidFill>
            <a:prstDash val="solid"/>
          </a:ln>
        </p:spPr>
      </p:sp>
      <p:sp>
        <p:nvSpPr>
          <p:cNvPr id="34" name="arch-read-label">
            <a:extLst xmlns:a="http://schemas.openxmlformats.org/drawingml/2006/main">
              <a:ext uri="{FF2B5EF4-FFF2-40B4-BE49-F238E27FC236}">
                <a16:creationId xmlns:a16="http://schemas.microsoft.com/office/drawing/2014/main" id="{1706D3D4-FA48-48E6-A2BB-87DD1E33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714B"/>
                </a:solidFill>
              </a:defRPr>
            </a:pPr>
            <a:r>
              <a:rPr sz="1350" b="1">
                <a:solidFill>
                  <a:srgbClr val="1F714B"/>
                </a:solidFill>
              </a:rPr>
              <a:t>FAQ PATH</a:t>
            </a:r>
          </a:p>
        </p:txBody>
      </p:sp>
      <p:sp>
        <p:nvSpPr>
          <p:cNvPr id="35" name="arch-read-flow">
            <a:extLst xmlns:a="http://schemas.openxmlformats.org/drawingml/2006/main">
              <a:ext uri="{FF2B5EF4-FFF2-40B4-BE49-F238E27FC236}">
                <a16:creationId xmlns:a16="http://schemas.microsoft.com/office/drawing/2014/main" id="{27C88EA5-41A7-4E72-A41A-0A8B535D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00425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Retrieve approved passages  →  grounded-answer prompt  →  validate cited IDs  →  answer or handoff</a:t>
            </a:r>
          </a:p>
        </p:txBody>
      </p:sp>
      <p:sp>
        <p:nvSpPr>
          <p:cNvPr id="36" name="arch-write-band">
            <a:extLst xmlns:a="http://schemas.openxmlformats.org/drawingml/2006/main">
              <a:ext uri="{FF2B5EF4-FFF2-40B4-BE49-F238E27FC236}">
                <a16:creationId xmlns:a16="http://schemas.microsoft.com/office/drawing/2014/main" id="{34DE1ECE-418E-400B-8F65-04E67466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114014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F714B"/>
            </a:solidFill>
            <a:prstDash val="solid"/>
          </a:ln>
        </p:spPr>
      </p:sp>
      <p:sp>
        <p:nvSpPr>
          <p:cNvPr id="37" name="arch-write-accent">
            <a:extLst xmlns:a="http://schemas.openxmlformats.org/drawingml/2006/main">
              <a:ext uri="{FF2B5EF4-FFF2-40B4-BE49-F238E27FC236}">
                <a16:creationId xmlns:a16="http://schemas.microsoft.com/office/drawing/2014/main" id="{05A22C12-8581-41BB-952C-DED180C9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rch-write-label">
            <a:extLst xmlns:a="http://schemas.openxmlformats.org/drawingml/2006/main">
              <a:ext uri="{FF2B5EF4-FFF2-40B4-BE49-F238E27FC236}">
                <a16:creationId xmlns:a16="http://schemas.microsoft.com/office/drawing/2014/main" id="{7F00763F-9C82-49FE-88AA-27B649B1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863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714B"/>
                </a:solidFill>
              </a:defRPr>
            </a:pPr>
            <a:r>
              <a:rPr sz="1350" b="1">
                <a:solidFill>
                  <a:srgbClr val="1F714B"/>
                </a:solidFill>
              </a:rPr>
              <a:t>ACTION PATH</a:t>
            </a:r>
          </a:p>
        </p:txBody>
      </p:sp>
      <p:sp>
        <p:nvSpPr>
          <p:cNvPr id="39" name="arch-write-flow">
            <a:extLst xmlns:a="http://schemas.openxmlformats.org/drawingml/2006/main">
              <a:ext uri="{FF2B5EF4-FFF2-40B4-BE49-F238E27FC236}">
                <a16:creationId xmlns:a16="http://schemas.microsoft.com/office/drawing/2014/main" id="{0576E36C-3172-4165-AF4B-B35231C5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67250"/>
            <a:ext cx="909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lookupOrder  →  identity check  →  return policy  →  explicit confirmation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→  createReturn rechecks confirmation, identity, eligibility, and idempotency</a:t>
            </a:r>
          </a:p>
        </p:txBody>
      </p:sp>
    </p:spTree>
    <p:extLst>
      <p:ext uri="{BB962C8B-B14F-4D97-AF65-F5344CB8AC3E}">
        <p14:creationId xmlns:p14="http://schemas.microsoft.com/office/powerpoint/2010/main" val="1211108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radeoffs-title">
            <a:extLst xmlns:a="http://schemas.openxmlformats.org/drawingml/2006/main">
              <a:ext uri="{FF2B5EF4-FFF2-40B4-BE49-F238E27FC236}">
                <a16:creationId xmlns:a16="http://schemas.microsoft.com/office/drawing/2014/main" id="{DEA4D843-4D15-448D-B2D0-C0AA4ABD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Three technical decisions that mattered most</a:t>
            </a:r>
          </a:p>
        </p:txBody>
      </p:sp>
      <p:sp>
        <p:nvSpPr>
          <p:cNvPr id="2" name="tradeoffs-subtitle">
            <a:extLst xmlns:a="http://schemas.openxmlformats.org/drawingml/2006/main">
              <a:ext uri="{FF2B5EF4-FFF2-40B4-BE49-F238E27FC236}">
                <a16:creationId xmlns:a16="http://schemas.microsoft.com/office/drawing/2014/main" id="{D96B329E-B562-40BE-94C9-7227D8B8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906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57"/>
                </a:solidFill>
              </a:defRPr>
            </a:pPr>
            <a:r>
              <a:rPr sz="1575" b="0">
                <a:solidFill>
                  <a:srgbClr val="555B57"/>
                </a:solidFill>
              </a:rPr>
              <a:t>Each choice gives up some flexibility in exchange for behavior that is easier to test, explain, and trust.</a:t>
            </a:r>
          </a:p>
        </p:txBody>
      </p:sp>
      <p:sp>
        <p:nvSpPr>
          <p:cNvPr id="3" name="tradeoff-1-circle">
            <a:extLst xmlns:a="http://schemas.openxmlformats.org/drawingml/2006/main">
              <a:ext uri="{FF2B5EF4-FFF2-40B4-BE49-F238E27FC236}">
                <a16:creationId xmlns:a16="http://schemas.microsoft.com/office/drawing/2014/main" id="{1173C906-1BC6-406B-9207-5B10163F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14B"/>
            </a:solidFill>
            <a:prstDash val="solid"/>
          </a:ln>
        </p:spPr>
      </p:sp>
      <p:sp>
        <p:nvSpPr>
          <p:cNvPr id="4" name="tradeoff-1-number">
            <a:extLst xmlns:a="http://schemas.openxmlformats.org/drawingml/2006/main">
              <a:ext uri="{FF2B5EF4-FFF2-40B4-BE49-F238E27FC236}">
                <a16:creationId xmlns:a16="http://schemas.microsoft.com/office/drawing/2014/main" id="{DA3060F0-5DE4-47AB-8B7F-0C4988E6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714B"/>
                </a:solidFill>
              </a:defRPr>
            </a:pPr>
            <a:r>
              <a:rPr sz="1350" b="1">
                <a:solidFill>
                  <a:srgbClr val="1F714B"/>
                </a:solidFill>
              </a:rPr>
              <a:t>1</a:t>
            </a:r>
          </a:p>
        </p:txBody>
      </p:sp>
      <p:sp>
        <p:nvSpPr>
          <p:cNvPr id="5" name="tradeoff-title-1">
            <a:extLst xmlns:a="http://schemas.openxmlformats.org/drawingml/2006/main">
              <a:ext uri="{FF2B5EF4-FFF2-40B4-BE49-F238E27FC236}">
                <a16:creationId xmlns:a16="http://schemas.microsoft.com/office/drawing/2014/main" id="{D42905AD-D458-4B95-BFE6-172DBDD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Interpretation is not execution</a:t>
            </a:r>
          </a:p>
        </p:txBody>
      </p:sp>
      <p:sp>
        <p:nvSpPr>
          <p:cNvPr id="6" name="tradeoff-body-1">
            <a:extLst xmlns:a="http://schemas.openxmlformats.org/drawingml/2006/main">
              <a:ext uri="{FF2B5EF4-FFF2-40B4-BE49-F238E27FC236}">
                <a16:creationId xmlns:a16="http://schemas.microsoft.com/office/drawing/2014/main" id="{B2320F6C-41D0-4B28-B197-8408F708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528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CHOICE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The model returns typed intent, slots, and contextAction. Code validates literal IDs and chooses the workflow.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55B57"/>
                </a:solidFill>
              </a:defRPr>
            </a:pPr>
            <a:r>
              <a:rPr sz="1425" b="0">
                <a:solidFill>
                  <a:srgbClr val="555B5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TRADEOFF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More orchestration code, but no model-selected tools or invented operational facts.</a:t>
            </a:r>
          </a:p>
        </p:txBody>
      </p:sp>
      <p:sp>
        <p:nvSpPr>
          <p:cNvPr id="7" name="tradeoff-2-circle">
            <a:extLst xmlns:a="http://schemas.openxmlformats.org/drawingml/2006/main">
              <a:ext uri="{FF2B5EF4-FFF2-40B4-BE49-F238E27FC236}">
                <a16:creationId xmlns:a16="http://schemas.microsoft.com/office/drawing/2014/main" id="{7F796CC8-1F65-4028-9ABD-9F255E86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14B"/>
            </a:solidFill>
            <a:prstDash val="solid"/>
          </a:ln>
        </p:spPr>
      </p:sp>
      <p:sp>
        <p:nvSpPr>
          <p:cNvPr id="8" name="tradeoff-2-number">
            <a:extLst xmlns:a="http://schemas.openxmlformats.org/drawingml/2006/main">
              <a:ext uri="{FF2B5EF4-FFF2-40B4-BE49-F238E27FC236}">
                <a16:creationId xmlns:a16="http://schemas.microsoft.com/office/drawing/2014/main" id="{5000B126-6D2E-45E5-8492-9F4A0D9E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714B"/>
                </a:solidFill>
              </a:defRPr>
            </a:pPr>
            <a:r>
              <a:rPr sz="1350" b="1">
                <a:solidFill>
                  <a:srgbClr val="1F714B"/>
                </a:solidFill>
              </a:rPr>
              <a:t>2</a:t>
            </a:r>
          </a:p>
        </p:txBody>
      </p:sp>
      <p:sp>
        <p:nvSpPr>
          <p:cNvPr id="9" name="tradeoff-title-2">
            <a:extLst xmlns:a="http://schemas.openxmlformats.org/drawingml/2006/main">
              <a:ext uri="{FF2B5EF4-FFF2-40B4-BE49-F238E27FC236}">
                <a16:creationId xmlns:a16="http://schemas.microsoft.com/office/drawing/2014/main" id="{B3601179-B18C-4E88-A052-8F107FA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Ground every FAQ answer</a:t>
            </a:r>
          </a:p>
        </p:txBody>
      </p:sp>
      <p:sp>
        <p:nvSpPr>
          <p:cNvPr id="10" name="tradeoff-body-2">
            <a:extLst xmlns:a="http://schemas.openxmlformats.org/drawingml/2006/main">
              <a:ext uri="{FF2B5EF4-FFF2-40B4-BE49-F238E27FC236}">
                <a16:creationId xmlns:a16="http://schemas.microsoft.com/office/drawing/2014/main" id="{41CFC16B-3190-4FD3-8BC6-E5F20B4E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528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CHOICE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Deterministic retrieval selects approved passages. The model sees only that evidence; cited IDs are checked before display.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55B57"/>
                </a:solidFill>
              </a:defRPr>
            </a:pPr>
            <a:r>
              <a:rPr sz="1425" b="0">
                <a:solidFill>
                  <a:srgbClr val="555B5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TRADEOFF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A small knowledge base causes more handoffs, but unsupported answers never reach customers.</a:t>
            </a:r>
          </a:p>
        </p:txBody>
      </p:sp>
      <p:sp>
        <p:nvSpPr>
          <p:cNvPr id="11" name="tradeoff-3-circle">
            <a:extLst xmlns:a="http://schemas.openxmlformats.org/drawingml/2006/main">
              <a:ext uri="{FF2B5EF4-FFF2-40B4-BE49-F238E27FC236}">
                <a16:creationId xmlns:a16="http://schemas.microsoft.com/office/drawing/2014/main" id="{727511EB-507D-4C6A-8729-738F41C7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14B"/>
            </a:solidFill>
            <a:prstDash val="solid"/>
          </a:ln>
        </p:spPr>
      </p:sp>
      <p:sp>
        <p:nvSpPr>
          <p:cNvPr id="12" name="tradeoff-3-number">
            <a:extLst xmlns:a="http://schemas.openxmlformats.org/drawingml/2006/main">
              <a:ext uri="{FF2B5EF4-FFF2-40B4-BE49-F238E27FC236}">
                <a16:creationId xmlns:a16="http://schemas.microsoft.com/office/drawing/2014/main" id="{BEE1D8DF-41DF-4569-A0EA-6A38AB2F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714B"/>
                </a:solidFill>
              </a:defRPr>
            </a:pPr>
            <a:r>
              <a:rPr sz="1350" b="1">
                <a:solidFill>
                  <a:srgbClr val="1F714B"/>
                </a:solidFill>
              </a:rPr>
              <a:t>3</a:t>
            </a:r>
          </a:p>
        </p:txBody>
      </p:sp>
      <p:sp>
        <p:nvSpPr>
          <p:cNvPr id="13" name="tradeoff-title-3">
            <a:extLst xmlns:a="http://schemas.openxmlformats.org/drawingml/2006/main">
              <a:ext uri="{FF2B5EF4-FFF2-40B4-BE49-F238E27FC236}">
                <a16:creationId xmlns:a16="http://schemas.microsoft.com/office/drawing/2014/main" id="{B4693120-C9D0-4892-B57D-2AF223AC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Make writes earn permission</a:t>
            </a:r>
          </a:p>
        </p:txBody>
      </p:sp>
      <p:sp>
        <p:nvSpPr>
          <p:cNvPr id="14" name="tradeoff-body-3">
            <a:extLst xmlns:a="http://schemas.openxmlformats.org/drawingml/2006/main">
              <a:ext uri="{FF2B5EF4-FFF2-40B4-BE49-F238E27FC236}">
                <a16:creationId xmlns:a16="http://schemas.microsoft.com/office/drawing/2014/main" id="{53BF6D68-65B3-40E7-8C56-B0A9EB84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CHOICE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Identity and policy run before a staged action. Confirmation is parsed in code; createReturn rechecks every write condition.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55B57"/>
                </a:solidFill>
              </a:defRPr>
            </a:pPr>
            <a:r>
              <a:rPr sz="1425" b="0">
                <a:solidFill>
                  <a:srgbClr val="555B5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TRADEOFF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A narrower conversation flow, but a language model cannot authorize a return.</a:t>
            </a:r>
          </a:p>
        </p:txBody>
      </p:sp>
      <p:sp>
        <p:nvSpPr>
          <p:cNvPr id="15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9ACFA469-50E3-4B7E-95DE-8EA497CF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52640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radeoffs-title">
            <a:extLst xmlns:a="http://schemas.openxmlformats.org/drawingml/2006/main">
              <a:ext uri="{FF2B5EF4-FFF2-40B4-BE49-F238E27FC236}">
                <a16:creationId xmlns:a16="http://schemas.microsoft.com/office/drawing/2014/main" id="{DEA4D843-4D15-448D-B2D0-C0AA4ABD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How Bookly handles ambiguity and failure</a:t>
            </a:r>
          </a:p>
        </p:txBody>
      </p:sp>
      <p:sp>
        <p:nvSpPr>
          <p:cNvPr id="2" name="tradeoffs-subtitle">
            <a:extLst xmlns:a="http://schemas.openxmlformats.org/drawingml/2006/main">
              <a:ext uri="{FF2B5EF4-FFF2-40B4-BE49-F238E27FC236}">
                <a16:creationId xmlns:a16="http://schemas.microsoft.com/office/drawing/2014/main" id="{D96B329E-B562-40BE-94C9-7227D8B8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906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57"/>
                </a:solidFill>
              </a:defRPr>
            </a:pPr>
            <a:r>
              <a:rPr sz="1575" b="0">
                <a:solidFill>
                  <a:srgbClr val="555B57"/>
                </a:solidFill>
              </a:rPr>
              <a:t>The safe behavior is explicit: preserve verified context, invalidate stale actions, and hand off instead of guessing.</a:t>
            </a:r>
          </a:p>
        </p:txBody>
      </p:sp>
      <p:sp>
        <p:nvSpPr>
          <p:cNvPr id="3" name="tradeoff-1-circle">
            <a:extLst xmlns:a="http://schemas.openxmlformats.org/drawingml/2006/main">
              <a:ext uri="{FF2B5EF4-FFF2-40B4-BE49-F238E27FC236}">
                <a16:creationId xmlns:a16="http://schemas.microsoft.com/office/drawing/2014/main" id="{1173C906-1BC6-406B-9207-5B10163F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14B"/>
            </a:solidFill>
            <a:prstDash val="solid"/>
          </a:ln>
        </p:spPr>
      </p:sp>
      <p:sp>
        <p:nvSpPr>
          <p:cNvPr id="4" name="tradeoff-1-number">
            <a:extLst xmlns:a="http://schemas.openxmlformats.org/drawingml/2006/main">
              <a:ext uri="{FF2B5EF4-FFF2-40B4-BE49-F238E27FC236}">
                <a16:creationId xmlns:a16="http://schemas.microsoft.com/office/drawing/2014/main" id="{DA3060F0-5DE4-47AB-8B7F-0C4988E6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714B"/>
                </a:solidFill>
              </a:defRPr>
            </a:pPr>
            <a:r>
              <a:rPr sz="1350" b="1">
                <a:solidFill>
                  <a:srgbClr val="1F714B"/>
                </a:solidFill>
              </a:rPr>
              <a:t>1</a:t>
            </a:r>
          </a:p>
        </p:txBody>
      </p:sp>
      <p:sp>
        <p:nvSpPr>
          <p:cNvPr id="5" name="tradeoff-title-1">
            <a:extLst xmlns:a="http://schemas.openxmlformats.org/drawingml/2006/main">
              <a:ext uri="{FF2B5EF4-FFF2-40B4-BE49-F238E27FC236}">
                <a16:creationId xmlns:a16="http://schemas.microsoft.com/office/drawing/2014/main" id="{D42905AD-D458-4B95-BFE6-172DBDD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Clarify without restarting</a:t>
            </a:r>
          </a:p>
        </p:txBody>
      </p:sp>
      <p:sp>
        <p:nvSpPr>
          <p:cNvPr id="6" name="tradeoff-body-1">
            <a:extLst xmlns:a="http://schemas.openxmlformats.org/drawingml/2006/main">
              <a:ext uri="{FF2B5EF4-FFF2-40B4-BE49-F238E27FC236}">
                <a16:creationId xmlns:a16="http://schemas.microsoft.com/office/drawing/2014/main" id="{B2320F6C-41D0-4B28-B197-8408F708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528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Missing order, email, or reason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→ ask for that field only.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55B57"/>
                </a:solidFill>
              </a:defRPr>
            </a:pPr>
            <a:r>
              <a:rPr sz="1575" b="0">
                <a:solidFill>
                  <a:srgbClr val="555B5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‘Return it’ after a verified lookup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→ reuse that order.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Different order or customer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→ start fresh.</a:t>
            </a:r>
          </a:p>
        </p:txBody>
      </p:sp>
      <p:sp>
        <p:nvSpPr>
          <p:cNvPr id="7" name="tradeoff-2-circle">
            <a:extLst xmlns:a="http://schemas.openxmlformats.org/drawingml/2006/main">
              <a:ext uri="{FF2B5EF4-FFF2-40B4-BE49-F238E27FC236}">
                <a16:creationId xmlns:a16="http://schemas.microsoft.com/office/drawing/2014/main" id="{7F796CC8-1F65-4028-9ABD-9F255E86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14B"/>
            </a:solidFill>
            <a:prstDash val="solid"/>
          </a:ln>
        </p:spPr>
      </p:sp>
      <p:sp>
        <p:nvSpPr>
          <p:cNvPr id="8" name="tradeoff-2-number">
            <a:extLst xmlns:a="http://schemas.openxmlformats.org/drawingml/2006/main">
              <a:ext uri="{FF2B5EF4-FFF2-40B4-BE49-F238E27FC236}">
                <a16:creationId xmlns:a16="http://schemas.microsoft.com/office/drawing/2014/main" id="{5000B126-6D2E-45E5-8492-9F4A0D9E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714B"/>
                </a:solidFill>
              </a:defRPr>
            </a:pPr>
            <a:r>
              <a:rPr sz="1350" b="1">
                <a:solidFill>
                  <a:srgbClr val="1F714B"/>
                </a:solidFill>
              </a:rPr>
              <a:t>2</a:t>
            </a:r>
          </a:p>
        </p:txBody>
      </p:sp>
      <p:sp>
        <p:nvSpPr>
          <p:cNvPr id="9" name="tradeoff-title-2">
            <a:extLst xmlns:a="http://schemas.openxmlformats.org/drawingml/2006/main">
              <a:ext uri="{FF2B5EF4-FFF2-40B4-BE49-F238E27FC236}">
                <a16:creationId xmlns:a16="http://schemas.microsoft.com/office/drawing/2014/main" id="{B3601179-B18C-4E88-A052-8F107FA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Protect staged actions</a:t>
            </a:r>
          </a:p>
        </p:txBody>
      </p:sp>
      <p:sp>
        <p:nvSpPr>
          <p:cNvPr id="10" name="tradeoff-body-2">
            <a:extLst xmlns:a="http://schemas.openxmlformats.org/drawingml/2006/main">
              <a:ext uri="{FF2B5EF4-FFF2-40B4-BE49-F238E27FC236}">
                <a16:creationId xmlns:a16="http://schemas.microsoft.com/office/drawing/2014/main" id="{41CFC16B-3190-4FD3-8BC6-E5F20B4E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528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‘Yes, go ahead’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→ complete the pending return.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55B57"/>
                </a:solidFill>
              </a:defRPr>
            </a:pPr>
            <a:r>
              <a:rPr sz="1575" b="0">
                <a:solidFill>
                  <a:srgbClr val="555B5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Changed email, order, or reason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→ invalidate and recheck.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Duplicate request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→ return the existing receipt.</a:t>
            </a:r>
          </a:p>
        </p:txBody>
      </p:sp>
      <p:sp>
        <p:nvSpPr>
          <p:cNvPr id="11" name="tradeoff-3-circle">
            <a:extLst xmlns:a="http://schemas.openxmlformats.org/drawingml/2006/main">
              <a:ext uri="{FF2B5EF4-FFF2-40B4-BE49-F238E27FC236}">
                <a16:creationId xmlns:a16="http://schemas.microsoft.com/office/drawing/2014/main" id="{727511EB-507D-4C6A-8729-738F41C7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14B"/>
            </a:solidFill>
            <a:prstDash val="solid"/>
          </a:ln>
        </p:spPr>
      </p:sp>
      <p:sp>
        <p:nvSpPr>
          <p:cNvPr id="12" name="tradeoff-3-number">
            <a:extLst xmlns:a="http://schemas.openxmlformats.org/drawingml/2006/main">
              <a:ext uri="{FF2B5EF4-FFF2-40B4-BE49-F238E27FC236}">
                <a16:creationId xmlns:a16="http://schemas.microsoft.com/office/drawing/2014/main" id="{BEE1D8DF-41DF-4569-A0EA-6A38AB2F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714B"/>
                </a:solidFill>
              </a:defRPr>
            </a:pPr>
            <a:r>
              <a:rPr sz="1350" b="1">
                <a:solidFill>
                  <a:srgbClr val="1F714B"/>
                </a:solidFill>
              </a:rPr>
              <a:t>3</a:t>
            </a:r>
          </a:p>
        </p:txBody>
      </p:sp>
      <p:sp>
        <p:nvSpPr>
          <p:cNvPr id="13" name="tradeoff-title-3">
            <a:extLst xmlns:a="http://schemas.openxmlformats.org/drawingml/2006/main">
              <a:ext uri="{FF2B5EF4-FFF2-40B4-BE49-F238E27FC236}">
                <a16:creationId xmlns:a16="http://schemas.microsoft.com/office/drawing/2014/main" id="{B4693120-C9D0-4892-B57D-2AF223AC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Handoff instead of guessing</a:t>
            </a:r>
          </a:p>
        </p:txBody>
      </p:sp>
      <p:sp>
        <p:nvSpPr>
          <p:cNvPr id="14" name="tradeoff-body-3">
            <a:extLst xmlns:a="http://schemas.openxmlformats.org/drawingml/2006/main">
              <a:ext uri="{FF2B5EF4-FFF2-40B4-BE49-F238E27FC236}">
                <a16:creationId xmlns:a16="http://schemas.microsoft.com/office/drawing/2014/main" id="{53BF6D68-65B3-40E7-8C56-B0A9EB84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Unsupported FAQ or label/refund issue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→ specialist handoff.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55B57"/>
                </a:solidFill>
              </a:defRPr>
            </a:pPr>
            <a:r>
              <a:rPr sz="1575" b="0">
                <a:solidFill>
                  <a:srgbClr val="555B5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Provider or tool failure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→ safe customer message.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Trace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→ routing, memory, tools, and guardrails; never private reasoning.</a:t>
            </a:r>
          </a:p>
        </p:txBody>
      </p:sp>
      <p:sp>
        <p:nvSpPr>
          <p:cNvPr id="15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9ACFA469-50E3-4B7E-95DE-8EA497CF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652640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roof-title">
            <a:extLst xmlns:a="http://schemas.openxmlformats.org/drawingml/2006/main">
              <a:ext uri="{FF2B5EF4-FFF2-40B4-BE49-F238E27FC236}">
                <a16:creationId xmlns:a16="http://schemas.microsoft.com/office/drawing/2014/main" id="{43C6FB65-6B3B-4F4F-BAB6-ADE25EDD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What I would change first for production</a:t>
            </a:r>
          </a:p>
        </p:txBody>
      </p:sp>
      <p:sp>
        <p:nvSpPr>
          <p:cNvPr id="2" name="proof-kicker">
            <a:extLst xmlns:a="http://schemas.openxmlformats.org/drawingml/2006/main">
              <a:ext uri="{FF2B5EF4-FFF2-40B4-BE49-F238E27FC236}">
                <a16:creationId xmlns:a16="http://schemas.microsoft.com/office/drawing/2014/main" id="{1D244C9D-2241-4850-8ED1-4C4C6E94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477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714B"/>
                </a:solidFill>
              </a:defRPr>
            </a:pPr>
            <a:r>
              <a:rPr sz="1350" b="1">
                <a:solidFill>
                  <a:srgbClr val="1F714B"/>
                </a:solidFill>
              </a:rPr>
              <a:t>FIRST PRIORITY</a:t>
            </a:r>
          </a:p>
        </p:txBody>
      </p:sp>
      <p:sp>
        <p:nvSpPr>
          <p:cNvPr id="3" name="proof-production-next">
            <a:extLst xmlns:a="http://schemas.openxmlformats.org/drawingml/2006/main">
              <a:ext uri="{FF2B5EF4-FFF2-40B4-BE49-F238E27FC236}">
                <a16:creationId xmlns:a16="http://schemas.microsoft.com/office/drawing/2014/main" id="{64429248-935A-45B2-B9CB-EE77C2E0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114014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Replace typed email matching and in-memory state with authenticated identity, durable workflow state, and audited idempotent writes. Only then connect real systems or add actions.</a:t>
            </a:r>
          </a:p>
        </p:txBody>
      </p:sp>
      <p:sp>
        <p:nvSpPr>
          <p:cNvPr id="4" name="proof-card-1">
            <a:extLst xmlns:a="http://schemas.openxmlformats.org/drawingml/2006/main">
              <a:ext uri="{FF2B5EF4-FFF2-40B4-BE49-F238E27FC236}">
                <a16:creationId xmlns:a16="http://schemas.microsoft.com/office/drawing/2014/main" id="{57641E74-EEF2-43F1-A5B6-650A7E14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29718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of-accent-1">
            <a:extLst xmlns:a="http://schemas.openxmlformats.org/drawingml/2006/main">
              <a:ext uri="{FF2B5EF4-FFF2-40B4-BE49-F238E27FC236}">
                <a16:creationId xmlns:a16="http://schemas.microsoft.com/office/drawing/2014/main" id="{4141FD7C-FF5C-4462-B144-DF69D1CA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19425"/>
            <a:ext cx="3571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of-stat-1">
            <a:extLst xmlns:a="http://schemas.openxmlformats.org/drawingml/2006/main">
              <a:ext uri="{FF2B5EF4-FFF2-40B4-BE49-F238E27FC236}">
                <a16:creationId xmlns:a16="http://schemas.microsoft.com/office/drawing/2014/main" id="{B739C762-2381-44B6-9597-EB950CC2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290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proof-title-1">
            <a:extLst xmlns:a="http://schemas.openxmlformats.org/drawingml/2006/main">
              <a:ext uri="{FF2B5EF4-FFF2-40B4-BE49-F238E27FC236}">
                <a16:creationId xmlns:a16="http://schemas.microsoft.com/office/drawing/2014/main" id="{ABEC2FDC-07C4-4AF2-BBCE-13C25398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38625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Authenticate the customer</a:t>
            </a:r>
          </a:p>
        </p:txBody>
      </p:sp>
      <p:sp>
        <p:nvSpPr>
          <p:cNvPr id="8" name="proof-body-1">
            <a:extLst xmlns:a="http://schemas.openxmlformats.org/drawingml/2006/main">
              <a:ext uri="{FF2B5EF4-FFF2-40B4-BE49-F238E27FC236}">
                <a16:creationId xmlns:a16="http://schemas.microsoft.com/office/drawing/2014/main" id="{487CCD5F-D39A-4364-93A0-57A9FDBD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Use account or session identity plus server-side authorization. Never trust an email address typed into chat as proof of access.</a:t>
            </a:r>
          </a:p>
        </p:txBody>
      </p:sp>
      <p:sp>
        <p:nvSpPr>
          <p:cNvPr id="9" name="proof-card-2">
            <a:extLst xmlns:a="http://schemas.openxmlformats.org/drawingml/2006/main">
              <a:ext uri="{FF2B5EF4-FFF2-40B4-BE49-F238E27FC236}">
                <a16:creationId xmlns:a16="http://schemas.microsoft.com/office/drawing/2014/main" id="{7BBB9862-70BB-49B6-AA17-6A260809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19425"/>
            <a:ext cx="3571875" cy="29718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of-accent-2">
            <a:extLst xmlns:a="http://schemas.openxmlformats.org/drawingml/2006/main">
              <a:ext uri="{FF2B5EF4-FFF2-40B4-BE49-F238E27FC236}">
                <a16:creationId xmlns:a16="http://schemas.microsoft.com/office/drawing/2014/main" id="{0A98FEBE-1B79-4314-88AA-CBD6F301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19425"/>
            <a:ext cx="3571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FA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of-stat-2">
            <a:extLst xmlns:a="http://schemas.openxmlformats.org/drawingml/2006/main">
              <a:ext uri="{FF2B5EF4-FFF2-40B4-BE49-F238E27FC236}">
                <a16:creationId xmlns:a16="http://schemas.microsoft.com/office/drawing/2014/main" id="{2D9C2AA6-9BCB-4927-BC44-23265392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2" name="proof-title-2">
            <a:extLst xmlns:a="http://schemas.openxmlformats.org/drawingml/2006/main">
              <a:ext uri="{FF2B5EF4-FFF2-40B4-BE49-F238E27FC236}">
                <a16:creationId xmlns:a16="http://schemas.microsoft.com/office/drawing/2014/main" id="{6D4E97C8-9C2A-43C6-8655-3B17D937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38625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Persist the workflow</a:t>
            </a:r>
          </a:p>
        </p:txBody>
      </p:sp>
      <p:sp>
        <p:nvSpPr>
          <p:cNvPr id="13" name="proof-body-2">
            <a:extLst xmlns:a="http://schemas.openxmlformats.org/drawingml/2006/main">
              <a:ext uri="{FF2B5EF4-FFF2-40B4-BE49-F238E27FC236}">
                <a16:creationId xmlns:a16="http://schemas.microsoft.com/office/drawing/2014/main" id="{EB4C5F13-DB92-4811-BC0E-C3E67067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00625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Store pending actions, policy version, idempotency keys, and audit history so retries are resumable and attributable.</a:t>
            </a:r>
          </a:p>
        </p:txBody>
      </p:sp>
      <p:sp>
        <p:nvSpPr>
          <p:cNvPr id="14" name="proof-card-3">
            <a:extLst xmlns:a="http://schemas.openxmlformats.org/drawingml/2006/main">
              <a:ext uri="{FF2B5EF4-FFF2-40B4-BE49-F238E27FC236}">
                <a16:creationId xmlns:a16="http://schemas.microsoft.com/office/drawing/2014/main" id="{09D80232-753B-4BD8-90BF-521BE3A8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of-accent-3">
            <a:extLst xmlns:a="http://schemas.openxmlformats.org/drawingml/2006/main">
              <a:ext uri="{FF2B5EF4-FFF2-40B4-BE49-F238E27FC236}">
                <a16:creationId xmlns:a16="http://schemas.microsoft.com/office/drawing/2014/main" id="{33619BC3-9AA1-4B03-8FF3-9A07C4C5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of-stat-3">
            <a:extLst xmlns:a="http://schemas.openxmlformats.org/drawingml/2006/main">
              <a:ext uri="{FF2B5EF4-FFF2-40B4-BE49-F238E27FC236}">
                <a16:creationId xmlns:a16="http://schemas.microsoft.com/office/drawing/2014/main" id="{DF8EC73C-C7F6-4F6E-AA53-10DFAC7F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290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7" name="proof-title-3">
            <a:extLst xmlns:a="http://schemas.openxmlformats.org/drawingml/2006/main">
              <a:ext uri="{FF2B5EF4-FFF2-40B4-BE49-F238E27FC236}">
                <a16:creationId xmlns:a16="http://schemas.microsoft.com/office/drawing/2014/main" id="{A2EF2670-0A14-4E4A-9A5B-DB60F900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38625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Then expand capability</a:t>
            </a:r>
          </a:p>
        </p:txBody>
      </p:sp>
      <p:sp>
        <p:nvSpPr>
          <p:cNvPr id="18" name="proof-body-3">
            <a:extLst xmlns:a="http://schemas.openxmlformats.org/drawingml/2006/main">
              <a:ext uri="{FF2B5EF4-FFF2-40B4-BE49-F238E27FC236}">
                <a16:creationId xmlns:a16="http://schemas.microsoft.com/office/drawing/2014/main" id="{C280148D-A93D-45A7-9669-D372C9F5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00625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Connect real order and help-desk systems. Add production evals and monitoring before expanding the action set.</a:t>
            </a:r>
          </a:p>
        </p:txBody>
      </p:sp>
      <p:sp>
        <p:nvSpPr>
          <p:cNvPr id="19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BC0FC70D-E2BA-48D8-9513-0EF87C9D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55B57"/>
                </a:solidFill>
              </a:defRPr>
            </a:pPr>
            <a:r>
              <a:rPr sz="1350" b="0">
                <a:solidFill>
                  <a:srgbClr val="555B57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97620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Bookly SE Take-Home Candidate</dc:creator>
  <lastModifiedBy>Bookly SE Take-Home Candidate</lastModifiedBy>
  <dc:title>Bookly Support Agent | Decagon SE Take-Home</dc:title>
  <dcterms:created xsi:type="dcterms:W3CDTF">2026-08-11T02:27:02.5230000Z</dcterms:created>
  <dcterms:modified xsi:type="dcterms:W3CDTF">2026-08-11T02:27:02.5230000Z</dcterms:modified>
</coreProperties>
</file>