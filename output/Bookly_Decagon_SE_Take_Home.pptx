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d6245623b14068" /><Relationship Type="http://schemas.openxmlformats.org/officeDocument/2006/relationships/extended-properties" Target="/docProps/app.xml" Id="R61d1ab28ab53457e" /><Relationship Type="http://schemas.openxmlformats.org/officeDocument/2006/relationships/officeDocument" Target="/ppt/presentation.xml" Id="Rb9d2251c39bf4f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818d6de11b2496f"/>
  </p:sldMasterIdLst>
  <p:notesMasterIdLst>
    <p:notesMasterId xmlns:r="http://schemas.openxmlformats.org/officeDocument/2006/relationships" r:id="Re721dd4036d94abf"/>
  </p:notesMasterIdLst>
  <p:sldIdLst>
    <p:sldId xmlns:r="http://schemas.openxmlformats.org/officeDocument/2006/relationships" id="256" r:id="R986096df8e044793"/>
    <p:sldId xmlns:r="http://schemas.openxmlformats.org/officeDocument/2006/relationships" id="257" r:id="R5323b303892740a3"/>
    <p:sldId xmlns:r="http://schemas.openxmlformats.org/officeDocument/2006/relationships" id="258" r:id="Rc61655e50c6f4bed"/>
    <p:sldId xmlns:r="http://schemas.openxmlformats.org/officeDocument/2006/relationships" id="259" r:id="Ra1ea33ee86ce4aa4"/>
    <p:sldId xmlns:r="http://schemas.openxmlformats.org/officeDocument/2006/relationships" id="260" r:id="R773fd183574d4e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6b69f2825404a06" /><Relationship Type="http://schemas.openxmlformats.org/officeDocument/2006/relationships/slideMaster" Target="/ppt/slideMasters/slideMaster1.xml" Id="R5818d6de11b2496f" /><Relationship Type="http://schemas.openxmlformats.org/officeDocument/2006/relationships/notesMaster" Target="/ppt/notesMasters/notesMaster1.xml" Id="Re721dd4036d94abf" /><Relationship Type="http://schemas.openxmlformats.org/officeDocument/2006/relationships/presProps" Target="/ppt/presProps.xml" Id="R6d25758ccdb14392" /><Relationship Type="http://schemas.openxmlformats.org/officeDocument/2006/relationships/tableStyles" Target="/ppt/tableStyles.xml" Id="R0d8f03f1a79f4e03" /><Relationship Type="http://schemas.openxmlformats.org/officeDocument/2006/relationships/slide" Target="/ppt/slides/slide1.xml" Id="R986096df8e044793" /><Relationship Type="http://schemas.openxmlformats.org/officeDocument/2006/relationships/slide" Target="/ppt/slides/slide2.xml" Id="R5323b303892740a3" /><Relationship Type="http://schemas.openxmlformats.org/officeDocument/2006/relationships/slide" Target="/ppt/slides/slide3.xml" Id="Rc61655e50c6f4bed" /><Relationship Type="http://schemas.openxmlformats.org/officeDocument/2006/relationships/slide" Target="/ppt/slides/slide4.xml" Id="Ra1ea33ee86ce4aa4" /><Relationship Type="http://schemas.openxmlformats.org/officeDocument/2006/relationships/slide" Target="/ppt/slides/slide5.xml" Id="R773fd183574d4e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f2f88d8af0d4c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340c93992d4230" /><Relationship Type="http://schemas.openxmlformats.org/officeDocument/2006/relationships/notesMaster" Target="/ppt/notesMasters/notesMaster1.xml" Id="R114a9bee554346c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40410808624c9d" /><Relationship Type="http://schemas.openxmlformats.org/officeDocument/2006/relationships/notesMaster" Target="/ppt/notesMasters/notesMaster1.xml" Id="R934d2d933a58423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a34de695adc45c3" /><Relationship Type="http://schemas.openxmlformats.org/officeDocument/2006/relationships/notesMaster" Target="/ppt/notesMasters/notesMaster1.xml" Id="Rdbafe339357c4e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dcd14b52d3b4ed5" /><Relationship Type="http://schemas.openxmlformats.org/officeDocument/2006/relationships/notesMaster" Target="/ppt/notesMasters/notesMaster1.xml" Id="R8e25d6b3142641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d351cfd3d7b4494" /><Relationship Type="http://schemas.openxmlformats.org/officeDocument/2006/relationships/notesMaster" Target="/ppt/notesMasters/notesMaster1.xml" Id="R0799141b9f334cf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point of view: language is probabilistic; business commitments are not.</a:t>
            </a:r>
          </a:p>
          <a:p xmlns:a="http://schemas.openxmlformats.org/drawingml/2006/main">
            <a:r>
              <a:t>Bookly demonstrates two operational workflows and one read-only knowledge workflow.</a:t>
            </a:r>
          </a:p>
          <a:p xmlns:a="http://schemas.openxmlformats.org/drawingml/2006/main">
            <a:r>
              <a:t>The model owns interpretation and grounded FAQ prose. Typed code owns facts, policy, confirmation, and writes.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Assignment brief: SE Take-Home (1).pdf</a:t>
            </a:r>
          </a:p>
          <a:p xmlns:a="http://schemas.openxmlformats.org/drawingml/2006/main">
            <a:r>
              <a:t>-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the top row first: customer input is interpreted through one narrow prompt, then the orchestrator owns state and dispatch.</a:t>
            </a:r>
          </a:p>
          <a:p xmlns:a="http://schemas.openxmlformats.org/drawingml/2006/main">
            <a:r>
              <a:t>The lower-left path is the only customer-facing generation: retrieval, passage-constrained answer, and an explicit citation gate.</a:t>
            </a:r>
          </a:p>
          <a:p xmlns:a="http://schemas.openxmlformats.org/drawingml/2006/main">
            <a:r>
              <a:t>The lower-right path owns operational work. A write cannot happen until the workflow and createReturn both accept explicit confirmation.</a:t>
            </a:r>
          </a:p>
          <a:p xmlns:a="http://schemas.openxmlformats.org/drawingml/2006/main">
            <a:r>
              <a:t>Everything is a direct API call or typed TypeScript function; there is no all-in-one agent platform.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src/agent/bookly-agent.ts</a:t>
            </a:r>
          </a:p>
          <a:p xmlns:a="http://schemas.openxmlformats.org/drawingml/2006/main">
            <a:r>
              <a:t>- src/providers/openai-intent-router.ts</a:t>
            </a:r>
          </a:p>
          <a:p xmlns:a="http://schemas.openxmlformats.org/drawingml/2006/main">
            <a:r>
              <a:t>- src/providers/openai-knowledge-answerer.ts</a:t>
            </a:r>
          </a:p>
          <a:p xmlns:a="http://schemas.openxmlformats.org/drawingml/2006/main">
            <a:r>
              <a:t>- src/agent/session-memory.ts</a:t>
            </a:r>
          </a:p>
          <a:p xmlns:a="http://schemas.openxmlformats.org/drawingml/2006/main">
            <a:r>
              <a:t>- src/tools/mock-bookly-tools.ts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Answer the obvious interviewer question directly: a pure decision tree cannot generalize phrasing or synthesize a grounded FAQ answer.</a:t>
            </a:r>
          </a:p>
          <a:p xmlns:a="http://schemas.openxmlformats.org/drawingml/2006/main">
            <a:r>
              <a:t>The workflows are deliberately deterministic where Bookly makes a commitment, but they are reusable primitives rather than one hardcoded tree per utterance.</a:t>
            </a:r>
          </a:p>
          <a:p xmlns:a="http://schemas.openxmlformats.org/drawingml/2006/main">
            <a:r>
              <a:t>At twenty intents, read-only knowledge intents share retrieval and grounding; read intents share identity plus typed reads; write intents add policy, confirmation, and idempotency.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docs/DECISIONS.md</a:t>
            </a:r>
          </a:p>
          <a:p xmlns:a="http://schemas.openxmlformats.org/drawingml/2006/main">
            <a:r>
              <a:t>- src/workflows/faq-workflow.ts</a:t>
            </a:r>
          </a:p>
          <a:p xmlns:a="http://schemas.openxmlformats.org/drawingml/2006/main">
            <a:r>
              <a:t>- src/workflows/return-workflow.ts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show production thinking beyond the happy path.</a:t>
            </a:r>
          </a:p>
          <a:p xmlns:a="http://schemas.openxmlformats.org/drawingml/2006/main">
            <a:r>
              <a:t>Do not claim measured production values. These are acceptance metrics and operating signals for a real rollout.</a:t>
            </a:r>
          </a:p>
          <a:p xmlns:a="http://schemas.openxmlformats.org/drawingml/2006/main">
            <a:r>
              <a:t>The live trace already exposes safe categories for routing, retrieval, tools, memory, and guardrails.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docs/DECISIONS.md</a:t>
            </a:r>
          </a:p>
          <a:p xmlns:a="http://schemas.openxmlformats.org/drawingml/2006/main">
            <a:r>
              <a:t>- src/workflows/tool-failure.ts</a:t>
            </a:r>
          </a:p>
          <a:p xmlns:a="http://schemas.openxmlformats.org/drawingml/2006/main">
            <a:r>
              <a:t>- src/workflows/faq-workflow.ts</a:t>
            </a:r>
          </a:p>
          <a:p xmlns:a="http://schemas.openxmlformats.org/drawingml/2006/main">
            <a:r>
              <a:t>- src/tools/mock-bookly-tools.ts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Run the live demo from this slide: order status, contextual return, natural-language approval, grounded Canada shipping FAQ, then an unsupported question that hands off.</a:t>
            </a:r>
          </a:p>
          <a:p xmlns:a="http://schemas.openxmlformats.org/drawingml/2006/main">
            <a:r>
              <a:t>The test count is the full current Vitest suite after confirmation, reset, FAQ, and router-conformance work.</a:t>
            </a:r>
          </a:p>
          <a:p xmlns:a="http://schemas.openxmlformats.org/drawingml/2006/main">
            <a:r>
              <a:t>Close with the first production move: authenticated identity and durable audited state before broader write capability.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tests/</a:t>
            </a:r>
          </a:p>
          <a:p xmlns:a="http://schemas.openxmlformats.org/drawingml/2006/main">
            <a:r>
              <a:t>- docs/DEMO_SCRIPT.md</a:t>
            </a:r>
          </a:p>
          <a:p xmlns:a="http://schemas.openxmlformats.org/drawingml/2006/main">
            <a:r>
              <a:t>- docs/DECISIONS.md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819723e2104c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d458f625284993" /><Relationship Type="http://schemas.openxmlformats.org/officeDocument/2006/relationships/slideLayout" Target="/ppt/slideLayouts/slideLayout1.xml" Id="Re3e20a56e0544c4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e20a56e0544c4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2192428e9143af" /><Relationship Type="http://schemas.openxmlformats.org/officeDocument/2006/relationships/notesSlide" Target="/ppt/notesSlides/notesSlide1.xml" Id="R32e4229fac754a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0e1ca3ca0c4b03" /><Relationship Type="http://schemas.openxmlformats.org/officeDocument/2006/relationships/notesSlide" Target="/ppt/notesSlides/notesSlide2.xml" Id="R78d8e8ad6dcf410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ace7590904cea" /><Relationship Type="http://schemas.openxmlformats.org/officeDocument/2006/relationships/notesSlide" Target="/ppt/notesSlides/notesSlide3.xml" Id="R1b48aa5ded834d7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5fcb776f054bc4" /><Relationship Type="http://schemas.openxmlformats.org/officeDocument/2006/relationships/notesSlide" Target="/ppt/notesSlides/notesSlide4.xml" Id="R79d510b28ba34d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53af845f947f1" /><Relationship Type="http://schemas.openxmlformats.org/officeDocument/2006/relationships/notesSlide" Target="/ppt/notesSlides/notesSlide5.xml" Id="Rbd32fddb7dad41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cover-supertitle">
            <a:extLst xmlns:a="http://schemas.openxmlformats.org/drawingml/2006/main">
              <a:ext uri="{FF2B5EF4-FFF2-40B4-BE49-F238E27FC236}">
                <a16:creationId xmlns:a16="http://schemas.microsoft.com/office/drawing/2014/main" id="{4D5621D8-74AB-4BC0-907E-FC88B996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05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F714B"/>
                </a:solidFill>
              </a:defRPr>
            </a:pPr>
            <a:r>
              <a:rPr sz="1800" b="1">
                <a:solidFill>
                  <a:srgbClr val="1F714B"/>
                </a:solidFill>
              </a:rPr>
              <a:t>DECAGON SOLUTIONS ENGINEERING · TAKE-HOME</a:t>
            </a:r>
          </a:p>
        </p:txBody>
      </p:sp>
      <p:sp>
        <p:nvSpPr>
          <p:cNvPr id="2" name="cover-brand">
            <a:extLst xmlns:a="http://schemas.openxmlformats.org/drawingml/2006/main">
              <a:ext uri="{FF2B5EF4-FFF2-40B4-BE49-F238E27FC236}">
                <a16:creationId xmlns:a16="http://schemas.microsoft.com/office/drawing/2014/main" id="{487F8C2F-0251-4B5A-B263-4804A312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90525"/>
            <a:ext cx="3162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BOOKLY</a:t>
            </a:r>
          </a:p>
        </p:txBody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F5E4F12A-D64F-4905-B101-2980574FF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019300"/>
            <a:ext cx="10477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A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ver-thesis">
            <a:extLst xmlns:a="http://schemas.openxmlformats.org/drawingml/2006/main">
              <a:ext uri="{FF2B5EF4-FFF2-40B4-BE49-F238E27FC236}">
                <a16:creationId xmlns:a16="http://schemas.microsoft.com/office/drawing/2014/main" id="{CF19AFD2-09E6-4A2D-BA2E-EA13E44D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381250"/>
            <a:ext cx="100965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000000"/>
                </a:solidFill>
              </a:defRPr>
            </a:pPr>
            <a:r>
              <a:rPr sz="5850" b="1">
                <a:solidFill>
                  <a:srgbClr val="000000"/>
                </a:solidFill>
              </a:rPr>
              <a:t>Use AI for ambiguity.</a:t>
            </a:r>
          </a:p>
          <a:p xmlns:a="http://schemas.openxmlformats.org/drawingml/2006/main">
            <a:pPr algn="l">
              <a:buNone/>
              <a:defRPr sz="5850" b="1">
                <a:solidFill>
                  <a:srgbClr val="000000"/>
                </a:solidFill>
              </a:defRPr>
            </a:pPr>
            <a:r>
              <a:rPr sz="5850" b="1">
                <a:solidFill>
                  <a:srgbClr val="000000"/>
                </a:solidFill>
              </a:rPr>
              <a:t>Use code for commitments.</a:t>
            </a:r>
          </a:p>
        </p:txBody>
      </p:sp>
      <p:sp>
        <p:nvSpPr>
          <p:cNvPr id="5" name="cover-scope">
            <a:extLst xmlns:a="http://schemas.openxmlformats.org/drawingml/2006/main">
              <a:ext uri="{FF2B5EF4-FFF2-40B4-BE49-F238E27FC236}">
                <a16:creationId xmlns:a16="http://schemas.microsoft.com/office/drawing/2014/main" id="{0C467869-B1F4-4286-B8C9-9CBFE431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9626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55B57"/>
                </a:solidFill>
              </a:defRPr>
            </a:pPr>
            <a:r>
              <a:rPr sz="1500" b="0">
                <a:solidFill>
                  <a:srgbClr val="555B57"/>
                </a:solidFill>
              </a:rPr>
              <a:t>2 action workflows + grounded FAQs · built for a live technical review</a:t>
            </a:r>
          </a:p>
        </p:txBody>
      </p:sp>
    </p:spTree>
    <p:extLst>
      <p:ext uri="{BB962C8B-B14F-4D97-AF65-F5344CB8AC3E}">
        <p14:creationId xmlns:p14="http://schemas.microsoft.com/office/powerpoint/2010/main" val="2056361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ifecycle-title">
            <a:extLst xmlns:a="http://schemas.openxmlformats.org/drawingml/2006/main">
              <a:ext uri="{FF2B5EF4-FFF2-40B4-BE49-F238E27FC236}">
                <a16:creationId xmlns:a16="http://schemas.microsoft.com/office/drawing/2014/main" id="{244D039C-2643-42A4-9F30-6671E77B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One inquiry. Two trust boundaries.</a:t>
            </a:r>
          </a:p>
        </p:txBody>
      </p:sp>
      <p:sp>
        <p:nvSpPr>
          <p:cNvPr id="2" name="lifecycle-subtitle">
            <a:extLst xmlns:a="http://schemas.openxmlformats.org/drawingml/2006/main">
              <a:ext uri="{FF2B5EF4-FFF2-40B4-BE49-F238E27FC236}">
                <a16:creationId xmlns:a16="http://schemas.microsoft.com/office/drawing/2014/main" id="{0E159B95-645C-458B-94E8-D127FDB77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190625"/>
            <a:ext cx="685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57"/>
                </a:solidFill>
              </a:defRPr>
            </a:pPr>
            <a:r>
              <a:rPr sz="1575" b="0">
                <a:solidFill>
                  <a:srgbClr val="555B57"/>
                </a:solidFill>
              </a:rPr>
              <a:t>Direct orchestration keeps prompts, memory, tools, and every write visible.</a:t>
            </a:r>
          </a:p>
        </p:txBody>
      </p:sp>
      <p:sp>
        <p:nvSpPr>
          <p:cNvPr id="16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C01A5B26-636B-4D04-B49A-08FB4CE3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674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2</a:t>
            </a:r>
          </a:p>
        </p:txBody>
      </p:sp>
      <p:sp>
        <p:nvSpPr>
          <p:cNvPr id="18" name="arch-customer-card">
            <a:extLst xmlns:a="http://schemas.openxmlformats.org/drawingml/2006/main">
              <a:ext uri="{FF2B5EF4-FFF2-40B4-BE49-F238E27FC236}">
                <a16:creationId xmlns:a16="http://schemas.microsoft.com/office/drawing/2014/main" id="{465BDD5C-62D0-4720-96C2-4A69536C7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809750"/>
            <a:ext cx="17145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7F1"/>
          </a:solidFill>
          <a:ln xmlns:a="http://schemas.openxmlformats.org/drawingml/2006/main" w="9525">
            <a:solidFill>
              <a:srgbClr val="B8C5BC"/>
            </a:solidFill>
            <a:prstDash val="solid"/>
          </a:ln>
        </p:spPr>
      </p:sp>
      <p:sp>
        <p:nvSpPr>
          <p:cNvPr id="19" name="arch-customer-title">
            <a:extLst xmlns:a="http://schemas.openxmlformats.org/drawingml/2006/main">
              <a:ext uri="{FF2B5EF4-FFF2-40B4-BE49-F238E27FC236}">
                <a16:creationId xmlns:a16="http://schemas.microsoft.com/office/drawing/2014/main" id="{5F351830-A858-4485-9CEA-35295677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924050"/>
            <a:ext cx="144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Customer + API</a:t>
            </a:r>
          </a:p>
        </p:txBody>
      </p:sp>
      <p:sp>
        <p:nvSpPr>
          <p:cNvPr id="20" name="arch-customer-body">
            <a:extLst xmlns:a="http://schemas.openxmlformats.org/drawingml/2006/main">
              <a:ext uri="{FF2B5EF4-FFF2-40B4-BE49-F238E27FC236}">
                <a16:creationId xmlns:a16="http://schemas.microsoft.com/office/drawing/2014/main" id="{83AEC01F-5367-4559-AC3B-08977E7D0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228850"/>
            <a:ext cx="1447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57"/>
                </a:solidFill>
              </a:defRPr>
            </a:pPr>
            <a:r>
              <a:rPr sz="900" b="0">
                <a:solidFill>
                  <a:srgbClr val="555B57"/>
                </a:solidFill>
              </a:rPr>
              <a:t>One Express endpoint.</a:t>
            </a:r>
          </a:p>
        </p:txBody>
      </p:sp>
      <p:sp>
        <p:nvSpPr>
          <p:cNvPr id="21" name="arch-router-card">
            <a:extLst xmlns:a="http://schemas.openxmlformats.org/drawingml/2006/main">
              <a:ext uri="{FF2B5EF4-FFF2-40B4-BE49-F238E27FC236}">
                <a16:creationId xmlns:a16="http://schemas.microsoft.com/office/drawing/2014/main" id="{C489A13F-812A-4032-8475-3D66C550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809750"/>
            <a:ext cx="195262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7F1"/>
          </a:solidFill>
          <a:ln xmlns:a="http://schemas.openxmlformats.org/drawingml/2006/main" w="9525">
            <a:solidFill>
              <a:srgbClr val="B8C5BC"/>
            </a:solidFill>
            <a:prstDash val="solid"/>
          </a:ln>
        </p:spPr>
      </p:sp>
      <p:sp>
        <p:nvSpPr>
          <p:cNvPr id="22" name="arch-router-title">
            <a:extLst xmlns:a="http://schemas.openxmlformats.org/drawingml/2006/main">
              <a:ext uri="{FF2B5EF4-FFF2-40B4-BE49-F238E27FC236}">
                <a16:creationId xmlns:a16="http://schemas.microsoft.com/office/drawing/2014/main" id="{BA827427-218B-418E-BA26-E5D9E481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924050"/>
            <a:ext cx="1685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Router + prompt</a:t>
            </a:r>
          </a:p>
        </p:txBody>
      </p:sp>
      <p:sp>
        <p:nvSpPr>
          <p:cNvPr id="23" name="arch-router-body">
            <a:extLst xmlns:a="http://schemas.openxmlformats.org/drawingml/2006/main">
              <a:ext uri="{FF2B5EF4-FFF2-40B4-BE49-F238E27FC236}">
                <a16:creationId xmlns:a16="http://schemas.microsoft.com/office/drawing/2014/main" id="{1CE5DF93-6186-4F5A-A9EF-FFDEC21E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228850"/>
            <a:ext cx="16859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57"/>
                </a:solidFill>
              </a:defRPr>
            </a:pPr>
            <a:r>
              <a:rPr sz="900" b="0">
                <a:solidFill>
                  <a:srgbClr val="555B57"/>
                </a:solidFill>
              </a:rPr>
              <a:t>intent + slots</a:t>
            </a:r>
          </a:p>
          <a:p xmlns:a="http://schemas.openxmlformats.org/drawingml/2006/main">
            <a:pPr algn="l">
              <a:defRPr sz="900" b="0">
                <a:solidFill>
                  <a:srgbClr val="555B57"/>
                </a:solidFill>
              </a:defRPr>
            </a:pPr>
            <a:r>
              <a:rPr sz="900" b="0">
                <a:solidFill>
                  <a:srgbClr val="555B57"/>
                </a:solidFill>
              </a:rPr>
              <a:t>+ contextAction.</a:t>
            </a:r>
          </a:p>
        </p:txBody>
      </p:sp>
      <p:sp>
        <p:nvSpPr>
          <p:cNvPr id="24" name="arch-orchestrator-card">
            <a:extLst xmlns:a="http://schemas.openxmlformats.org/drawingml/2006/main">
              <a:ext uri="{FF2B5EF4-FFF2-40B4-BE49-F238E27FC236}">
                <a16:creationId xmlns:a16="http://schemas.microsoft.com/office/drawing/2014/main" id="{31C297D3-9644-4A9D-AAFF-D83079254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09750"/>
            <a:ext cx="200025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154C35"/>
          </a:solidFill>
          <a:ln xmlns:a="http://schemas.openxmlformats.org/drawingml/2006/main" w="9525">
            <a:solidFill>
              <a:srgbClr val="154C35"/>
            </a:solidFill>
            <a:prstDash val="solid"/>
          </a:ln>
        </p:spPr>
      </p:sp>
      <p:sp>
        <p:nvSpPr>
          <p:cNvPr id="25" name="arch-orchestrator-title">
            <a:extLst xmlns:a="http://schemas.openxmlformats.org/drawingml/2006/main">
              <a:ext uri="{FF2B5EF4-FFF2-40B4-BE49-F238E27FC236}">
                <a16:creationId xmlns:a16="http://schemas.microsoft.com/office/drawing/2014/main" id="{5AE08E00-F255-45E3-AB6E-FEDB9F6E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240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BooklyAgent</a:t>
            </a:r>
          </a:p>
        </p:txBody>
      </p:sp>
      <p:sp>
        <p:nvSpPr>
          <p:cNvPr id="26" name="arch-orchestrator-body">
            <a:extLst xmlns:a="http://schemas.openxmlformats.org/drawingml/2006/main">
              <a:ext uri="{FF2B5EF4-FFF2-40B4-BE49-F238E27FC236}">
                <a16:creationId xmlns:a16="http://schemas.microsoft.com/office/drawing/2014/main" id="{AC08FFF9-2D35-4419-AB47-EF21B5CC1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28850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FFFFF"/>
                </a:solidFill>
              </a:defRPr>
            </a:pPr>
            <a:r>
              <a:rPr sz="900" b="0">
                <a:solidFill>
                  <a:srgbClr val="FFFFFF"/>
                </a:solidFill>
              </a:rPr>
              <a:t>State + dispatch.</a:t>
            </a:r>
          </a:p>
          <a:p xmlns:a="http://schemas.openxmlformats.org/drawingml/2006/main">
            <a:pPr algn="l">
              <a:defRPr sz="900" b="0">
                <a:solidFill>
                  <a:srgbClr val="FFFFFF"/>
                </a:solidFill>
              </a:defRPr>
            </a:pPr>
            <a:r>
              <a:rPr sz="900" b="0">
                <a:solidFill>
                  <a:srgbClr val="FFFFFF"/>
                </a:solidFill>
              </a:rPr>
              <a:t>No autonomous loop.</a:t>
            </a:r>
          </a:p>
        </p:txBody>
      </p:sp>
      <p:sp>
        <p:nvSpPr>
          <p:cNvPr id="27" name="arch-memory-card">
            <a:extLst xmlns:a="http://schemas.openxmlformats.org/drawingml/2006/main">
              <a:ext uri="{FF2B5EF4-FFF2-40B4-BE49-F238E27FC236}">
                <a16:creationId xmlns:a16="http://schemas.microsoft.com/office/drawing/2014/main" id="{C802A10E-1574-4739-BB05-0E21996F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809750"/>
            <a:ext cx="180975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7F1"/>
          </a:solidFill>
          <a:ln xmlns:a="http://schemas.openxmlformats.org/drawingml/2006/main" w="9525">
            <a:solidFill>
              <a:srgbClr val="B8C5BC"/>
            </a:solidFill>
            <a:prstDash val="solid"/>
          </a:ln>
        </p:spPr>
      </p:sp>
      <p:sp>
        <p:nvSpPr>
          <p:cNvPr id="28" name="arch-memory-title">
            <a:extLst xmlns:a="http://schemas.openxmlformats.org/drawingml/2006/main">
              <a:ext uri="{FF2B5EF4-FFF2-40B4-BE49-F238E27FC236}">
                <a16:creationId xmlns:a16="http://schemas.microsoft.com/office/drawing/2014/main" id="{08810EB7-0822-4EE3-B160-9CEE7AB67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1924050"/>
            <a:ext cx="1543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Session memory</a:t>
            </a:r>
          </a:p>
        </p:txBody>
      </p:sp>
      <p:sp>
        <p:nvSpPr>
          <p:cNvPr id="29" name="arch-memory-body">
            <a:extLst xmlns:a="http://schemas.openxmlformats.org/drawingml/2006/main">
              <a:ext uri="{FF2B5EF4-FFF2-40B4-BE49-F238E27FC236}">
                <a16:creationId xmlns:a16="http://schemas.microsoft.com/office/drawing/2014/main" id="{0CF2EC83-07E5-48FD-8D4A-982F98CB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22288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57"/>
                </a:solidFill>
              </a:defRPr>
            </a:pPr>
            <a:r>
              <a:rPr sz="900" b="0">
                <a:solidFill>
                  <a:srgbClr val="555B57"/>
                </a:solidFill>
              </a:rPr>
              <a:t>Intent, slots, pending action, receipt.</a:t>
            </a:r>
          </a:p>
        </p:txBody>
      </p:sp>
      <p:sp>
        <p:nvSpPr>
          <p:cNvPr id="30" name="arch-trace-card">
            <a:extLst xmlns:a="http://schemas.openxmlformats.org/drawingml/2006/main">
              <a:ext uri="{FF2B5EF4-FFF2-40B4-BE49-F238E27FC236}">
                <a16:creationId xmlns:a16="http://schemas.microsoft.com/office/drawing/2014/main" id="{12CE0B6E-3754-4449-B135-15386F5A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809750"/>
            <a:ext cx="200025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7F1"/>
          </a:solidFill>
          <a:ln xmlns:a="http://schemas.openxmlformats.org/drawingml/2006/main" w="9525">
            <a:solidFill>
              <a:srgbClr val="B8C5BC"/>
            </a:solidFill>
            <a:prstDash val="solid"/>
          </a:ln>
        </p:spPr>
      </p:sp>
      <p:sp>
        <p:nvSpPr>
          <p:cNvPr id="31" name="arch-trace-title">
            <a:extLst xmlns:a="http://schemas.openxmlformats.org/drawingml/2006/main">
              <a:ext uri="{FF2B5EF4-FFF2-40B4-BE49-F238E27FC236}">
                <a16:creationId xmlns:a16="http://schemas.microsoft.com/office/drawing/2014/main" id="{762D3095-6585-43CE-8C47-43DE9FF46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924050"/>
            <a:ext cx="1733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Safe trace</a:t>
            </a:r>
          </a:p>
        </p:txBody>
      </p:sp>
      <p:sp>
        <p:nvSpPr>
          <p:cNvPr id="32" name="arch-trace-body">
            <a:extLst xmlns:a="http://schemas.openxmlformats.org/drawingml/2006/main">
              <a:ext uri="{FF2B5EF4-FFF2-40B4-BE49-F238E27FC236}">
                <a16:creationId xmlns:a16="http://schemas.microsoft.com/office/drawing/2014/main" id="{D029E3E6-A409-49B5-A63E-4C97C0B9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28850"/>
            <a:ext cx="1733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55B57"/>
                </a:solidFill>
              </a:defRPr>
            </a:pPr>
            <a:r>
              <a:rPr sz="900" b="0">
                <a:solidFill>
                  <a:srgbClr val="555B57"/>
                </a:solidFill>
              </a:rPr>
              <a:t>Allowlisted operational metadata only.</a:t>
            </a:r>
          </a:p>
        </p:txBody>
      </p:sp>
      <p:sp>
        <p:nvSpPr>
          <p:cNvPr id="33" name="arch-faq-label">
            <a:extLst xmlns:a="http://schemas.openxmlformats.org/drawingml/2006/main">
              <a:ext uri="{FF2B5EF4-FFF2-40B4-BE49-F238E27FC236}">
                <a16:creationId xmlns:a16="http://schemas.microsoft.com/office/drawing/2014/main" id="{5856AD16-AA57-4CF5-B0F4-9AA67346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48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714B"/>
                </a:solidFill>
              </a:defRPr>
            </a:pPr>
            <a:r>
              <a:rPr sz="1125" b="1">
                <a:solidFill>
                  <a:srgbClr val="1F714B"/>
                </a:solidFill>
              </a:rPr>
              <a:t>READ-ONLY KNOWLEDGE PATH</a:t>
            </a:r>
          </a:p>
        </p:txBody>
      </p:sp>
      <p:sp>
        <p:nvSpPr>
          <p:cNvPr id="34" name="arch-retrieve-card">
            <a:extLst xmlns:a="http://schemas.openxmlformats.org/drawingml/2006/main">
              <a:ext uri="{FF2B5EF4-FFF2-40B4-BE49-F238E27FC236}">
                <a16:creationId xmlns:a16="http://schemas.microsoft.com/office/drawing/2014/main" id="{EA674021-ECA8-4BF6-BF31-CD95CE86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905250"/>
            <a:ext cx="1428750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C5BC"/>
            </a:solidFill>
            <a:prstDash val="solid"/>
          </a:ln>
        </p:spPr>
      </p:sp>
      <p:sp>
        <p:nvSpPr>
          <p:cNvPr id="35" name="arch-retrieve-title">
            <a:extLst xmlns:a="http://schemas.openxmlformats.org/drawingml/2006/main">
              <a:ext uri="{FF2B5EF4-FFF2-40B4-BE49-F238E27FC236}">
                <a16:creationId xmlns:a16="http://schemas.microsoft.com/office/drawing/2014/main" id="{2C577A5D-AC6C-4605-8DBE-75ADA6EAB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0195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Retrieve KB</a:t>
            </a:r>
          </a:p>
        </p:txBody>
      </p:sp>
      <p:sp>
        <p:nvSpPr>
          <p:cNvPr id="36" name="arch-retrieve-body">
            <a:extLst xmlns:a="http://schemas.openxmlformats.org/drawingml/2006/main">
              <a:ext uri="{FF2B5EF4-FFF2-40B4-BE49-F238E27FC236}">
                <a16:creationId xmlns:a16="http://schemas.microsoft.com/office/drawing/2014/main" id="{F4947E73-C5BE-4044-8AA7-BFC5D930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4324350"/>
            <a:ext cx="1162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55B57"/>
                </a:solidFill>
              </a:defRPr>
            </a:pPr>
            <a:r>
              <a:rPr sz="825" b="0">
                <a:solidFill>
                  <a:srgbClr val="555B57"/>
                </a:solidFill>
              </a:rPr>
              <a:t>3 curated passages.</a:t>
            </a:r>
          </a:p>
          <a:p xmlns:a="http://schemas.openxmlformats.org/drawingml/2006/main">
            <a:pPr algn="l">
              <a:defRPr sz="825" b="0">
                <a:solidFill>
                  <a:srgbClr val="555B57"/>
                </a:solidFill>
              </a:defRPr>
            </a:pPr>
            <a:r>
              <a:rPr sz="825" b="0">
                <a:solidFill>
                  <a:srgbClr val="555B57"/>
                </a:solidFill>
              </a:rPr>
              <a:t>Fixed threshold.</a:t>
            </a:r>
          </a:p>
        </p:txBody>
      </p:sp>
      <p:sp>
        <p:nvSpPr>
          <p:cNvPr id="37" name="arch-answer-card">
            <a:extLst xmlns:a="http://schemas.openxmlformats.org/drawingml/2006/main">
              <a:ext uri="{FF2B5EF4-FFF2-40B4-BE49-F238E27FC236}">
                <a16:creationId xmlns:a16="http://schemas.microsoft.com/office/drawing/2014/main" id="{E9B2782C-491F-46A6-9436-DD2E0C04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905250"/>
            <a:ext cx="1428750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C5BC"/>
            </a:solidFill>
            <a:prstDash val="solid"/>
          </a:ln>
        </p:spPr>
      </p:sp>
      <p:sp>
        <p:nvSpPr>
          <p:cNvPr id="38" name="arch-answer-title">
            <a:extLst xmlns:a="http://schemas.openxmlformats.org/drawingml/2006/main">
              <a:ext uri="{FF2B5EF4-FFF2-40B4-BE49-F238E27FC236}">
                <a16:creationId xmlns:a16="http://schemas.microsoft.com/office/drawing/2014/main" id="{4A71D431-B0B8-42AC-9BF0-8BDC21CF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0195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LLM answer</a:t>
            </a:r>
          </a:p>
        </p:txBody>
      </p:sp>
      <p:sp>
        <p:nvSpPr>
          <p:cNvPr id="39" name="arch-answer-body">
            <a:extLst xmlns:a="http://schemas.openxmlformats.org/drawingml/2006/main">
              <a:ext uri="{FF2B5EF4-FFF2-40B4-BE49-F238E27FC236}">
                <a16:creationId xmlns:a16="http://schemas.microsoft.com/office/drawing/2014/main" id="{0CCF9CCB-EA32-45DD-952C-CCB264EB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6025" y="4324350"/>
            <a:ext cx="1162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55B57"/>
                </a:solidFill>
              </a:defRPr>
            </a:pPr>
            <a:r>
              <a:rPr sz="825" b="0">
                <a:solidFill>
                  <a:srgbClr val="555B57"/>
                </a:solidFill>
              </a:rPr>
              <a:t>Question + retrieved passages only.</a:t>
            </a:r>
          </a:p>
        </p:txBody>
      </p:sp>
      <p:sp>
        <p:nvSpPr>
          <p:cNvPr id="40" name="arch-grounding-card">
            <a:extLst xmlns:a="http://schemas.openxmlformats.org/drawingml/2006/main">
              <a:ext uri="{FF2B5EF4-FFF2-40B4-BE49-F238E27FC236}">
                <a16:creationId xmlns:a16="http://schemas.microsoft.com/office/drawing/2014/main" id="{7868C990-F1C5-4184-A7EC-505C37D1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3905250"/>
            <a:ext cx="1428750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7FA82"/>
          </a:solidFill>
          <a:ln xmlns:a="http://schemas.openxmlformats.org/drawingml/2006/main" w="9525">
            <a:solidFill>
              <a:srgbClr val="1F714B"/>
            </a:solidFill>
            <a:prstDash val="solid"/>
          </a:ln>
        </p:spPr>
      </p:sp>
      <p:sp>
        <p:nvSpPr>
          <p:cNvPr id="41" name="arch-grounding-title">
            <a:extLst xmlns:a="http://schemas.openxmlformats.org/drawingml/2006/main">
              <a:ext uri="{FF2B5EF4-FFF2-40B4-BE49-F238E27FC236}">
                <a16:creationId xmlns:a16="http://schemas.microsoft.com/office/drawing/2014/main" id="{B2659D9C-0DC9-4B32-A894-9550E78FA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019550"/>
            <a:ext cx="1162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0000"/>
                </a:solidFill>
              </a:defRPr>
            </a:pPr>
            <a:r>
              <a:rPr sz="1200" b="1">
                <a:solidFill>
                  <a:srgbClr val="000000"/>
                </a:solidFill>
              </a:rPr>
              <a:t>Citation gate</a:t>
            </a:r>
          </a:p>
        </p:txBody>
      </p:sp>
      <p:sp>
        <p:nvSpPr>
          <p:cNvPr id="42" name="arch-grounding-body">
            <a:extLst xmlns:a="http://schemas.openxmlformats.org/drawingml/2006/main">
              <a:ext uri="{FF2B5EF4-FFF2-40B4-BE49-F238E27FC236}">
                <a16:creationId xmlns:a16="http://schemas.microsoft.com/office/drawing/2014/main" id="{D6315271-81E7-408D-B0B5-DDFBE02F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324350"/>
            <a:ext cx="1162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55B57"/>
                </a:solidFill>
              </a:defRPr>
            </a:pPr>
            <a:r>
              <a:rPr sz="825" b="0">
                <a:solidFill>
                  <a:srgbClr val="555B57"/>
                </a:solidFill>
              </a:rPr>
              <a:t>Reject empty or unknown citations.</a:t>
            </a:r>
          </a:p>
        </p:txBody>
      </p:sp>
      <p:sp>
        <p:nvSpPr>
          <p:cNvPr id="43" name="arch-action-label">
            <a:extLst xmlns:a="http://schemas.openxmlformats.org/drawingml/2006/main">
              <a:ext uri="{FF2B5EF4-FFF2-40B4-BE49-F238E27FC236}">
                <a16:creationId xmlns:a16="http://schemas.microsoft.com/office/drawing/2014/main" id="{581FA8FC-45DC-4251-8F6A-5029E7A66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4805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F714B"/>
                </a:solidFill>
              </a:defRPr>
            </a:pPr>
            <a:r>
              <a:rPr sz="1125" b="1">
                <a:solidFill>
                  <a:srgbClr val="1F714B"/>
                </a:solidFill>
              </a:rPr>
              <a:t>READ / WRITE WORKFLOW PATH</a:t>
            </a:r>
          </a:p>
        </p:txBody>
      </p:sp>
      <p:sp>
        <p:nvSpPr>
          <p:cNvPr id="44" name="arch-lane-divider">
            <a:extLst xmlns:a="http://schemas.openxmlformats.org/drawingml/2006/main">
              <a:ext uri="{FF2B5EF4-FFF2-40B4-BE49-F238E27FC236}">
                <a16:creationId xmlns:a16="http://schemas.microsoft.com/office/drawing/2014/main" id="{7B2AC8D8-3BA4-4CA1-AB0C-03785B63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381375"/>
            <a:ext cx="9525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5B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arch-workflow-card">
            <a:extLst xmlns:a="http://schemas.openxmlformats.org/drawingml/2006/main">
              <a:ext uri="{FF2B5EF4-FFF2-40B4-BE49-F238E27FC236}">
                <a16:creationId xmlns:a16="http://schemas.microsoft.com/office/drawing/2014/main" id="{6C6659FF-EBFD-4927-BCDD-261C83F7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1190625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C5BC"/>
            </a:solidFill>
            <a:prstDash val="solid"/>
          </a:ln>
        </p:spPr>
      </p:sp>
      <p:sp>
        <p:nvSpPr>
          <p:cNvPr id="46" name="arch-workflow-title">
            <a:extLst xmlns:a="http://schemas.openxmlformats.org/drawingml/2006/main">
              <a:ext uri="{FF2B5EF4-FFF2-40B4-BE49-F238E27FC236}">
                <a16:creationId xmlns:a16="http://schemas.microsoft.com/office/drawing/2014/main" id="{80D116DD-71A5-4EB7-9C67-F5A0AC44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19550"/>
            <a:ext cx="923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Workflow</a:t>
            </a:r>
          </a:p>
        </p:txBody>
      </p:sp>
      <p:sp>
        <p:nvSpPr>
          <p:cNvPr id="47" name="arch-workflow-body">
            <a:extLst xmlns:a="http://schemas.openxmlformats.org/drawingml/2006/main">
              <a:ext uri="{FF2B5EF4-FFF2-40B4-BE49-F238E27FC236}">
                <a16:creationId xmlns:a16="http://schemas.microsoft.com/office/drawing/2014/main" id="{3BF28E90-3C4F-45D3-9212-08F24B684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24350"/>
            <a:ext cx="9239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55B57"/>
                </a:solidFill>
              </a:defRPr>
            </a:pPr>
            <a:r>
              <a:rPr sz="825" b="0">
                <a:solidFill>
                  <a:srgbClr val="555B57"/>
                </a:solidFill>
              </a:rPr>
              <a:t>Identity + fixed tool order.</a:t>
            </a:r>
          </a:p>
        </p:txBody>
      </p:sp>
      <p:sp>
        <p:nvSpPr>
          <p:cNvPr id="48" name="arch-tools-card">
            <a:extLst xmlns:a="http://schemas.openxmlformats.org/drawingml/2006/main">
              <a:ext uri="{FF2B5EF4-FFF2-40B4-BE49-F238E27FC236}">
                <a16:creationId xmlns:a16="http://schemas.microsoft.com/office/drawing/2014/main" id="{FC932D6E-907D-4F56-A2C7-67C8F5D8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3905250"/>
            <a:ext cx="1190625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9525">
            <a:solidFill>
              <a:srgbClr val="B8C5BC"/>
            </a:solidFill>
            <a:prstDash val="solid"/>
          </a:ln>
        </p:spPr>
      </p:sp>
      <p:sp>
        <p:nvSpPr>
          <p:cNvPr id="49" name="arch-tools-title">
            <a:extLst xmlns:a="http://schemas.openxmlformats.org/drawingml/2006/main">
              <a:ext uri="{FF2B5EF4-FFF2-40B4-BE49-F238E27FC236}">
                <a16:creationId xmlns:a16="http://schemas.microsoft.com/office/drawing/2014/main" id="{C183FD8C-D15D-4553-B593-6ED8404AB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019550"/>
            <a:ext cx="923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00000"/>
                </a:solidFill>
              </a:defRPr>
            </a:pPr>
            <a:r>
              <a:rPr sz="975" b="1">
                <a:solidFill>
                  <a:srgbClr val="000000"/>
                </a:solidFill>
              </a:rPr>
              <a:t>Typed tools</a:t>
            </a:r>
          </a:p>
        </p:txBody>
      </p:sp>
      <p:sp>
        <p:nvSpPr>
          <p:cNvPr id="50" name="arch-tools-body">
            <a:extLst xmlns:a="http://schemas.openxmlformats.org/drawingml/2006/main">
              <a:ext uri="{FF2B5EF4-FFF2-40B4-BE49-F238E27FC236}">
                <a16:creationId xmlns:a16="http://schemas.microsoft.com/office/drawing/2014/main" id="{E01BA072-3360-4399-BC9E-CDAAAD77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324350"/>
            <a:ext cx="9239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55B57"/>
                </a:solidFill>
              </a:defRPr>
            </a:pPr>
            <a:r>
              <a:rPr sz="825" b="0">
                <a:solidFill>
                  <a:srgbClr val="555B57"/>
                </a:solidFill>
              </a:rPr>
              <a:t>Lookup facts; apply policy.</a:t>
            </a:r>
          </a:p>
        </p:txBody>
      </p:sp>
      <p:sp>
        <p:nvSpPr>
          <p:cNvPr id="51" name="arch-confirm-card">
            <a:extLst xmlns:a="http://schemas.openxmlformats.org/drawingml/2006/main">
              <a:ext uri="{FF2B5EF4-FFF2-40B4-BE49-F238E27FC236}">
                <a16:creationId xmlns:a16="http://schemas.microsoft.com/office/drawing/2014/main" id="{AEE1A6E4-9C80-49F6-91DA-655FA168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05250"/>
            <a:ext cx="1190625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7FA82"/>
          </a:solidFill>
          <a:ln xmlns:a="http://schemas.openxmlformats.org/drawingml/2006/main" w="9525">
            <a:solidFill>
              <a:srgbClr val="1F714B"/>
            </a:solidFill>
            <a:prstDash val="solid"/>
          </a:ln>
        </p:spPr>
      </p:sp>
      <p:sp>
        <p:nvSpPr>
          <p:cNvPr id="52" name="arch-confirm-title">
            <a:extLst xmlns:a="http://schemas.openxmlformats.org/drawingml/2006/main">
              <a:ext uri="{FF2B5EF4-FFF2-40B4-BE49-F238E27FC236}">
                <a16:creationId xmlns:a16="http://schemas.microsoft.com/office/drawing/2014/main" id="{79A5CAB5-75A2-4DB1-A358-2CCC5BE8C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19550"/>
            <a:ext cx="923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Confirm</a:t>
            </a:r>
          </a:p>
        </p:txBody>
      </p:sp>
      <p:sp>
        <p:nvSpPr>
          <p:cNvPr id="53" name="arch-confirm-body">
            <a:extLst xmlns:a="http://schemas.openxmlformats.org/drawingml/2006/main">
              <a:ext uri="{FF2B5EF4-FFF2-40B4-BE49-F238E27FC236}">
                <a16:creationId xmlns:a16="http://schemas.microsoft.com/office/drawing/2014/main" id="{1C709CBB-5A5A-4501-9DBD-C5BAD4F8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24350"/>
            <a:ext cx="9239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55B57"/>
                </a:solidFill>
              </a:defRPr>
            </a:pPr>
            <a:r>
              <a:rPr sz="825" b="0">
                <a:solidFill>
                  <a:srgbClr val="555B57"/>
                </a:solidFill>
              </a:rPr>
              <a:t>Freeze details; require approval.</a:t>
            </a:r>
          </a:p>
        </p:txBody>
      </p:sp>
      <p:sp>
        <p:nvSpPr>
          <p:cNvPr id="54" name="arch-write-card">
            <a:extLst xmlns:a="http://schemas.openxmlformats.org/drawingml/2006/main">
              <a:ext uri="{FF2B5EF4-FFF2-40B4-BE49-F238E27FC236}">
                <a16:creationId xmlns:a16="http://schemas.microsoft.com/office/drawing/2014/main" id="{64F9933D-9B3C-4637-98D9-30B9C27F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905250"/>
            <a:ext cx="1190625" cy="1143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EF7F1"/>
          </a:solidFill>
          <a:ln xmlns:a="http://schemas.openxmlformats.org/drawingml/2006/main" w="9525">
            <a:solidFill>
              <a:srgbClr val="B8C5BC"/>
            </a:solidFill>
            <a:prstDash val="solid"/>
          </a:ln>
        </p:spPr>
      </p:sp>
      <p:sp>
        <p:nvSpPr>
          <p:cNvPr id="55" name="arch-write-title">
            <a:extLst xmlns:a="http://schemas.openxmlformats.org/drawingml/2006/main">
              <a:ext uri="{FF2B5EF4-FFF2-40B4-BE49-F238E27FC236}">
                <a16:creationId xmlns:a16="http://schemas.microsoft.com/office/drawing/2014/main" id="{47EDBB4A-8AEB-4FDD-9E9F-39A79BC3C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019550"/>
            <a:ext cx="9239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0000"/>
                </a:solidFill>
              </a:defRPr>
            </a:pPr>
            <a:r>
              <a:rPr sz="1125" b="1">
                <a:solidFill>
                  <a:srgbClr val="000000"/>
                </a:solidFill>
              </a:rPr>
              <a:t>Write</a:t>
            </a:r>
          </a:p>
        </p:txBody>
      </p:sp>
      <p:sp>
        <p:nvSpPr>
          <p:cNvPr id="56" name="arch-write-body">
            <a:extLst xmlns:a="http://schemas.openxmlformats.org/drawingml/2006/main">
              <a:ext uri="{FF2B5EF4-FFF2-40B4-BE49-F238E27FC236}">
                <a16:creationId xmlns:a16="http://schemas.microsoft.com/office/drawing/2014/main" id="{2BDEF9B4-B8CC-42D2-8BB9-0025F4FF3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324350"/>
            <a:ext cx="9239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55B57"/>
                </a:solidFill>
              </a:defRPr>
            </a:pPr>
            <a:r>
              <a:rPr sz="825" b="0">
                <a:solidFill>
                  <a:srgbClr val="555B57"/>
                </a:solidFill>
              </a:rPr>
              <a:t>Recheck; create one return.</a:t>
            </a:r>
          </a:p>
        </p:txBody>
      </p:sp>
      <p:cxnSp>
        <p:nvCxnSpPr>
          <p:cNvPr id="110" name=""/>
          <p:cNvCxnSpPr>
            <a:stCxn xmlns:a="http://schemas.openxmlformats.org/drawingml/2006/main" id="18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2143125" y="22383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14B"/>
            </a:solidFill>
            <a:prstDash val="solid"/>
            <a:tailEnd type="arrow" w="med" len="med"/>
          </a:ln>
        </p:spPr>
      </p:cxnSp>
      <p:cxnSp>
        <p:nvCxnSpPr>
          <p:cNvPr id="111" name=""/>
          <p:cNvCxnSpPr>
            <a:stCxn xmlns:a="http://schemas.openxmlformats.org/drawingml/2006/main" id="21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4524375" y="22383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14B"/>
            </a:solidFill>
            <a:prstDash val="solid"/>
            <a:tailEnd type="arrow" w="med" len="med"/>
          </a:ln>
        </p:spPr>
      </p:cxnSp>
      <p:cxnSp>
        <p:nvCxnSpPr>
          <p:cNvPr id="112" name=""/>
          <p:cNvCxnSpPr>
            <a:stCxn xmlns:a="http://schemas.openxmlformats.org/drawingml/2006/main" id="24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6953250" y="22383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14B"/>
            </a:solidFill>
            <a:prstDash val="solid"/>
            <a:tailEnd type="arrow" w="med" len="med"/>
          </a:ln>
        </p:spPr>
      </p:cxnSp>
      <p:cxnSp>
        <p:nvCxnSpPr>
          <p:cNvPr id="113" name=""/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9191625" y="2238375"/>
            <a:ext cx="4286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8C5BC"/>
            </a:solidFill>
            <a:prstDash val="dash"/>
            <a:tailEnd type="arrow" w="med" len="med"/>
          </a:ln>
        </p:spPr>
      </p:cxnSp>
      <p:cxnSp>
        <p:nvCxnSpPr>
          <p:cNvPr id="114" name=""/>
          <p:cNvCxnSpPr>
            <a:stCxn xmlns:a="http://schemas.openxmlformats.org/drawingml/2006/main" id="24" idx="2"/>
            <a:endCxn xmlns:a="http://schemas.openxmlformats.org/drawingml/2006/main" id="34" idx="0"/>
          </p:cNvCxnSpPr>
          <p:nvPr/>
        </p:nvCxnSpPr>
        <p:spPr>
          <a:xfrm xmlns:a="http://schemas.openxmlformats.org/drawingml/2006/main" flipH="1">
            <a:off x="1333500" y="2667000"/>
            <a:ext cx="4619625" cy="1238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F714B"/>
            </a:solidFill>
            <a:prstDash val="solid"/>
            <a:tailEnd type="arrow" w="med" len="med"/>
          </a:ln>
        </p:spPr>
      </p:cxnSp>
      <p:cxnSp>
        <p:nvCxnSpPr>
          <p:cNvPr id="115" name=""/>
          <p:cNvCxnSpPr>
            <a:stCxn xmlns:a="http://schemas.openxmlformats.org/drawingml/2006/main" id="34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047875" y="44767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14B"/>
            </a:solidFill>
            <a:prstDash val="solid"/>
            <a:tailEnd type="arrow" w="med" len="med"/>
          </a:ln>
        </p:spPr>
      </p:cxnSp>
      <p:cxnSp>
        <p:nvCxnSpPr>
          <p:cNvPr id="116" name=""/>
          <p:cNvCxnSpPr>
            <a:stCxn xmlns:a="http://schemas.openxmlformats.org/drawingml/2006/main" id="37" idx="3"/>
            <a:endCxn xmlns:a="http://schemas.openxmlformats.org/drawingml/2006/main" id="40" idx="1"/>
          </p:cNvCxnSpPr>
          <p:nvPr/>
        </p:nvCxnSpPr>
        <p:spPr>
          <a:xfrm xmlns:a="http://schemas.openxmlformats.org/drawingml/2006/main">
            <a:off x="3781425" y="447675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14B"/>
            </a:solidFill>
            <a:prstDash val="solid"/>
            <a:tailEnd type="arrow" w="med" len="med"/>
          </a:ln>
        </p:spPr>
      </p:cxnSp>
      <p:cxnSp>
        <p:nvCxnSpPr>
          <p:cNvPr id="117" name=""/>
          <p:cNvCxnSpPr>
            <a:stCxn xmlns:a="http://schemas.openxmlformats.org/drawingml/2006/main" id="24" idx="2"/>
            <a:endCxn xmlns:a="http://schemas.openxmlformats.org/drawingml/2006/main" id="45" idx="0"/>
          </p:cNvCxnSpPr>
          <p:nvPr/>
        </p:nvCxnSpPr>
        <p:spPr>
          <a:xfrm xmlns:a="http://schemas.openxmlformats.org/drawingml/2006/main">
            <a:off x="5953125" y="2667000"/>
            <a:ext cx="928688" cy="1238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F714B"/>
            </a:solidFill>
            <a:prstDash val="solid"/>
            <a:tailEnd type="arrow" w="med" len="med"/>
          </a:ln>
        </p:spPr>
      </p:cxnSp>
      <p:cxnSp>
        <p:nvCxnSpPr>
          <p:cNvPr id="118" name=""/>
          <p:cNvCxnSpPr>
            <a:stCxn xmlns:a="http://schemas.openxmlformats.org/drawingml/2006/main" id="45" idx="3"/>
            <a:endCxn xmlns:a="http://schemas.openxmlformats.org/drawingml/2006/main" id="48" idx="1"/>
          </p:cNvCxnSpPr>
          <p:nvPr/>
        </p:nvCxnSpPr>
        <p:spPr>
          <a:xfrm xmlns:a="http://schemas.openxmlformats.org/drawingml/2006/main">
            <a:off x="7477125" y="4476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14B"/>
            </a:solidFill>
            <a:prstDash val="solid"/>
            <a:tailEnd type="arrow" w="med" len="med"/>
          </a:ln>
        </p:spPr>
      </p:cxnSp>
      <p:cxnSp>
        <p:nvCxnSpPr>
          <p:cNvPr id="119" name=""/>
          <p:cNvCxnSpPr>
            <a:stCxn xmlns:a="http://schemas.openxmlformats.org/drawingml/2006/main" id="48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8782050" y="4476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14B"/>
            </a:solidFill>
            <a:prstDash val="solid"/>
            <a:tailEnd type="arrow" w="med" len="med"/>
          </a:ln>
        </p:spPr>
      </p:cxnSp>
      <p:cxnSp>
        <p:nvCxnSpPr>
          <p:cNvPr id="120" name=""/>
          <p:cNvCxnSpPr>
            <a:stCxn xmlns:a="http://schemas.openxmlformats.org/drawingml/2006/main" id="51" idx="3"/>
            <a:endCxn xmlns:a="http://schemas.openxmlformats.org/drawingml/2006/main" id="54" idx="1"/>
          </p:cNvCxnSpPr>
          <p:nvPr/>
        </p:nvCxnSpPr>
        <p:spPr>
          <a:xfrm xmlns:a="http://schemas.openxmlformats.org/drawingml/2006/main">
            <a:off x="10086975" y="44767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14B"/>
            </a:solidFill>
            <a:prstDash val="solid"/>
            <a:tailEnd type="arrow" w="med" len="med"/>
          </a:ln>
        </p:spPr>
      </p:cxnSp>
    </p:spTree>
    <p:extLst>
      <p:ext uri="{BB962C8B-B14F-4D97-AF65-F5344CB8AC3E}">
        <p14:creationId xmlns:p14="http://schemas.microsoft.com/office/powerpoint/2010/main" val="12111088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radeoffs-title">
            <a:extLst xmlns:a="http://schemas.openxmlformats.org/drawingml/2006/main">
              <a:ext uri="{FF2B5EF4-FFF2-40B4-BE49-F238E27FC236}">
                <a16:creationId xmlns:a16="http://schemas.microsoft.com/office/drawing/2014/main" id="{DEA4D843-4D15-448D-B2D0-C0AA4ABD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This is not a classifier bolted onto a decision tree.</a:t>
            </a:r>
          </a:p>
        </p:txBody>
      </p:sp>
      <p:sp>
        <p:nvSpPr>
          <p:cNvPr id="2" name="tradeoffs-subtitle">
            <a:extLst xmlns:a="http://schemas.openxmlformats.org/drawingml/2006/main">
              <a:ext uri="{FF2B5EF4-FFF2-40B4-BE49-F238E27FC236}">
                <a16:creationId xmlns:a16="http://schemas.microsoft.com/office/drawing/2014/main" id="{D96B329E-B562-40BE-94C9-7227D8B8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190625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57"/>
                </a:solidFill>
              </a:defRPr>
            </a:pPr>
            <a:r>
              <a:rPr sz="1575" b="0">
                <a:solidFill>
                  <a:srgbClr val="555B57"/>
                </a:solidFill>
              </a:rPr>
              <a:t>The boundary scales because ambiguity and business risk evolve independently.</a:t>
            </a:r>
          </a:p>
        </p:txBody>
      </p:sp>
      <p:sp>
        <p:nvSpPr>
          <p:cNvPr id="3" name="tradeoff-1-circle">
            <a:extLst xmlns:a="http://schemas.openxmlformats.org/drawingml/2006/main">
              <a:ext uri="{FF2B5EF4-FFF2-40B4-BE49-F238E27FC236}">
                <a16:creationId xmlns:a16="http://schemas.microsoft.com/office/drawing/2014/main" id="{1173C906-1BC6-406B-9207-5B10163F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43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A82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4" name="tradeoff-1-number">
            <a:extLst xmlns:a="http://schemas.openxmlformats.org/drawingml/2006/main">
              <a:ext uri="{FF2B5EF4-FFF2-40B4-BE49-F238E27FC236}">
                <a16:creationId xmlns:a16="http://schemas.microsoft.com/office/drawing/2014/main" id="{DA3060F0-5DE4-47AB-8B7F-0C4988E6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908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01</a:t>
            </a:r>
          </a:p>
        </p:txBody>
      </p:sp>
      <p:sp>
        <p:nvSpPr>
          <p:cNvPr id="5" name="tradeoff-title-1">
            <a:extLst xmlns:a="http://schemas.openxmlformats.org/drawingml/2006/main">
              <a:ext uri="{FF2B5EF4-FFF2-40B4-BE49-F238E27FC236}">
                <a16:creationId xmlns:a16="http://schemas.microsoft.com/office/drawing/2014/main" id="{D42905AD-D458-4B95-BFE6-172DBDD2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147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Model-owned ambiguity</a:t>
            </a:r>
          </a:p>
        </p:txBody>
      </p:sp>
      <p:sp>
        <p:nvSpPr>
          <p:cNvPr id="6" name="tradeoff-body-1">
            <a:extLst xmlns:a="http://schemas.openxmlformats.org/drawingml/2006/main">
              <a:ext uri="{FF2B5EF4-FFF2-40B4-BE49-F238E27FC236}">
                <a16:creationId xmlns:a16="http://schemas.microsoft.com/office/drawing/2014/main" id="{B2320F6C-41D0-4B28-B197-8408F708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457700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B57"/>
                </a:solidFill>
              </a:defRPr>
            </a:pPr>
            <a:r>
              <a:rPr sz="1425" b="0">
                <a:solidFill>
                  <a:srgbClr val="555B57"/>
                </a:solidFill>
              </a:rPr>
              <a:t>Interpret novel phrasing, extract slots, resolve context references, and write FAQ prose from retrieved passages.</a:t>
            </a:r>
          </a:p>
        </p:txBody>
      </p:sp>
      <p:sp>
        <p:nvSpPr>
          <p:cNvPr id="7" name="tradeoff-2-circle">
            <a:extLst xmlns:a="http://schemas.openxmlformats.org/drawingml/2006/main">
              <a:ext uri="{FF2B5EF4-FFF2-40B4-BE49-F238E27FC236}">
                <a16:creationId xmlns:a16="http://schemas.microsoft.com/office/drawing/2014/main" id="{7F796CC8-1F65-4028-9ABD-9F255E86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43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A82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tradeoff-2-number">
            <a:extLst xmlns:a="http://schemas.openxmlformats.org/drawingml/2006/main">
              <a:ext uri="{FF2B5EF4-FFF2-40B4-BE49-F238E27FC236}">
                <a16:creationId xmlns:a16="http://schemas.microsoft.com/office/drawing/2014/main" id="{5000B126-6D2E-45E5-8492-9F4A0D9E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908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02</a:t>
            </a:r>
          </a:p>
        </p:txBody>
      </p:sp>
      <p:sp>
        <p:nvSpPr>
          <p:cNvPr id="9" name="tradeoff-title-2">
            <a:extLst xmlns:a="http://schemas.openxmlformats.org/drawingml/2006/main">
              <a:ext uri="{FF2B5EF4-FFF2-40B4-BE49-F238E27FC236}">
                <a16:creationId xmlns:a16="http://schemas.microsoft.com/office/drawing/2014/main" id="{B3601179-B18C-4E88-A052-8F107FA0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9147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Reusable primitives</a:t>
            </a:r>
          </a:p>
        </p:txBody>
      </p:sp>
      <p:sp>
        <p:nvSpPr>
          <p:cNvPr id="10" name="tradeoff-body-2">
            <a:extLst xmlns:a="http://schemas.openxmlformats.org/drawingml/2006/main">
              <a:ext uri="{FF2B5EF4-FFF2-40B4-BE49-F238E27FC236}">
                <a16:creationId xmlns:a16="http://schemas.microsoft.com/office/drawing/2014/main" id="{41CFC16B-3190-4FD3-8BC6-E5F20B4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457700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B57"/>
                </a:solidFill>
              </a:defRPr>
            </a:pPr>
            <a:r>
              <a:rPr sz="1425" b="0">
                <a:solidFill>
                  <a:srgbClr val="555B57"/>
                </a:solidFill>
              </a:rPr>
              <a:t>Identity, reads, policy, confirmation, idempotency, and safe failures are shared building blocks—not per-intent templates.</a:t>
            </a:r>
          </a:p>
        </p:txBody>
      </p:sp>
      <p:sp>
        <p:nvSpPr>
          <p:cNvPr id="11" name="tradeoff-3-circle">
            <a:extLst xmlns:a="http://schemas.openxmlformats.org/drawingml/2006/main">
              <a:ext uri="{FF2B5EF4-FFF2-40B4-BE49-F238E27FC236}">
                <a16:creationId xmlns:a16="http://schemas.microsoft.com/office/drawing/2014/main" id="{727511EB-507D-4C6A-8729-738F41C7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43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A82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tradeoff-3-number">
            <a:extLst xmlns:a="http://schemas.openxmlformats.org/drawingml/2006/main">
              <a:ext uri="{FF2B5EF4-FFF2-40B4-BE49-F238E27FC236}">
                <a16:creationId xmlns:a16="http://schemas.microsoft.com/office/drawing/2014/main" id="{BEE1D8DF-41DF-4569-A0EA-6A38AB2F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908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03</a:t>
            </a:r>
          </a:p>
        </p:txBody>
      </p:sp>
      <p:sp>
        <p:nvSpPr>
          <p:cNvPr id="13" name="tradeoff-title-3">
            <a:extLst xmlns:a="http://schemas.openxmlformats.org/drawingml/2006/main">
              <a:ext uri="{FF2B5EF4-FFF2-40B4-BE49-F238E27FC236}">
                <a16:creationId xmlns:a16="http://schemas.microsoft.com/office/drawing/2014/main" id="{B4693120-C9D0-4892-B57D-2AF223AC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147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Scale to 20+ intents</a:t>
            </a:r>
          </a:p>
        </p:txBody>
      </p:sp>
      <p:sp>
        <p:nvSpPr>
          <p:cNvPr id="14" name="tradeoff-body-3">
            <a:extLst xmlns:a="http://schemas.openxmlformats.org/drawingml/2006/main">
              <a:ext uri="{FF2B5EF4-FFF2-40B4-BE49-F238E27FC236}">
                <a16:creationId xmlns:a16="http://schemas.microsoft.com/office/drawing/2014/main" id="{53BF6D68-65B3-40E7-8C56-B0A9EB84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57700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55B57"/>
                </a:solidFill>
              </a:defRPr>
            </a:pPr>
            <a:r>
              <a:rPr sz="1425" b="0">
                <a:solidFill>
                  <a:srgbClr val="555B57"/>
                </a:solidFill>
              </a:rPr>
              <a:t>Add a route, retrieved content or a typed workflow, and eval cases. The orchestrator, memory, trace, and gates stay unchanged.</a:t>
            </a:r>
          </a:p>
        </p:txBody>
      </p:sp>
      <p:sp>
        <p:nvSpPr>
          <p:cNvPr id="15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9ACFA469-50E3-4B7E-95DE-8EA497CF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674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652640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radeoffs-title">
            <a:extLst xmlns:a="http://schemas.openxmlformats.org/drawingml/2006/main">
              <a:ext uri="{FF2B5EF4-FFF2-40B4-BE49-F238E27FC236}">
                <a16:creationId xmlns:a16="http://schemas.microsoft.com/office/drawing/2014/main" id="{DEA4D843-4D15-448D-B2D0-C0AA4ABD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Failure modes are designed, not hidden.</a:t>
            </a:r>
          </a:p>
        </p:txBody>
      </p:sp>
      <p:sp>
        <p:nvSpPr>
          <p:cNvPr id="2" name="tradeoffs-subtitle">
            <a:extLst xmlns:a="http://schemas.openxmlformats.org/drawingml/2006/main">
              <a:ext uri="{FF2B5EF4-FFF2-40B4-BE49-F238E27FC236}">
                <a16:creationId xmlns:a16="http://schemas.microsoft.com/office/drawing/2014/main" id="{D96B329E-B562-40BE-94C9-7227D8B8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190625"/>
            <a:ext cx="857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55B57"/>
                </a:solidFill>
              </a:defRPr>
            </a:pPr>
            <a:r>
              <a:rPr sz="1575" b="0">
                <a:solidFill>
                  <a:srgbClr val="555B57"/>
                </a:solidFill>
              </a:rPr>
              <a:t>Every uncertain path has one visible stop condition and one measurable outcome.</a:t>
            </a:r>
          </a:p>
        </p:txBody>
      </p:sp>
      <p:sp>
        <p:nvSpPr>
          <p:cNvPr id="3" name="tradeoff-1-circle">
            <a:extLst xmlns:a="http://schemas.openxmlformats.org/drawingml/2006/main">
              <a:ext uri="{FF2B5EF4-FFF2-40B4-BE49-F238E27FC236}">
                <a16:creationId xmlns:a16="http://schemas.microsoft.com/office/drawing/2014/main" id="{1173C906-1BC6-406B-9207-5B10163F8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43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A82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4" name="tradeoff-1-number">
            <a:extLst xmlns:a="http://schemas.openxmlformats.org/drawingml/2006/main">
              <a:ext uri="{FF2B5EF4-FFF2-40B4-BE49-F238E27FC236}">
                <a16:creationId xmlns:a16="http://schemas.microsoft.com/office/drawing/2014/main" id="{DA3060F0-5DE4-47AB-8B7F-0C4988E6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1908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01</a:t>
            </a:r>
          </a:p>
        </p:txBody>
      </p:sp>
      <p:sp>
        <p:nvSpPr>
          <p:cNvPr id="5" name="tradeoff-title-1">
            <a:extLst xmlns:a="http://schemas.openxmlformats.org/drawingml/2006/main">
              <a:ext uri="{FF2B5EF4-FFF2-40B4-BE49-F238E27FC236}">
                <a16:creationId xmlns:a16="http://schemas.microsoft.com/office/drawing/2014/main" id="{D42905AD-D458-4B95-BFE6-172DBDD2B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9147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Model + retrieval</a:t>
            </a:r>
          </a:p>
        </p:txBody>
      </p:sp>
      <p:sp>
        <p:nvSpPr>
          <p:cNvPr id="6" name="tradeoff-body-1">
            <a:extLst xmlns:a="http://schemas.openxmlformats.org/drawingml/2006/main">
              <a:ext uri="{FF2B5EF4-FFF2-40B4-BE49-F238E27FC236}">
                <a16:creationId xmlns:a16="http://schemas.microsoft.com/office/drawing/2014/main" id="{B2320F6C-41D0-4B28-B197-8408F708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457700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Provider unavailable → retry or handoff.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No passage or invalid citation → block the answer.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55B57"/>
                </a:solidFill>
              </a:defRPr>
            </a:pPr>
            <a:r>
              <a:rPr sz="1575" b="0">
                <a:solidFill>
                  <a:srgbClr val="555B57"/>
                </a:solidFill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Measure: grounded-answer rate + safe-handoff rate.</a:t>
            </a:r>
          </a:p>
        </p:txBody>
      </p:sp>
      <p:sp>
        <p:nvSpPr>
          <p:cNvPr id="7" name="tradeoff-2-circle">
            <a:extLst xmlns:a="http://schemas.openxmlformats.org/drawingml/2006/main">
              <a:ext uri="{FF2B5EF4-FFF2-40B4-BE49-F238E27FC236}">
                <a16:creationId xmlns:a16="http://schemas.microsoft.com/office/drawing/2014/main" id="{7F796CC8-1F65-4028-9ABD-9F255E867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43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A82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" name="tradeoff-2-number">
            <a:extLst xmlns:a="http://schemas.openxmlformats.org/drawingml/2006/main">
              <a:ext uri="{FF2B5EF4-FFF2-40B4-BE49-F238E27FC236}">
                <a16:creationId xmlns:a16="http://schemas.microsoft.com/office/drawing/2014/main" id="{5000B126-6D2E-45E5-8492-9F4A0D9E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1908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02</a:t>
            </a:r>
          </a:p>
        </p:txBody>
      </p:sp>
      <p:sp>
        <p:nvSpPr>
          <p:cNvPr id="9" name="tradeoff-title-2">
            <a:extLst xmlns:a="http://schemas.openxmlformats.org/drawingml/2006/main">
              <a:ext uri="{FF2B5EF4-FFF2-40B4-BE49-F238E27FC236}">
                <a16:creationId xmlns:a16="http://schemas.microsoft.com/office/drawing/2014/main" id="{B3601179-B18C-4E88-A052-8F107FA01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9147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Identity + tools</a:t>
            </a:r>
          </a:p>
        </p:txBody>
      </p:sp>
      <p:sp>
        <p:nvSpPr>
          <p:cNvPr id="10" name="tradeoff-body-2">
            <a:extLst xmlns:a="http://schemas.openxmlformats.org/drawingml/2006/main">
              <a:ext uri="{FF2B5EF4-FFF2-40B4-BE49-F238E27FC236}">
                <a16:creationId xmlns:a16="http://schemas.microsoft.com/office/drawing/2014/main" id="{41CFC16B-3190-4FD3-8BC6-E5F20B4E6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4457700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Unknown order and wrong email share one response.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Tool failure makes no promise.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55B57"/>
                </a:solidFill>
              </a:defRPr>
            </a:pPr>
            <a:r>
              <a:rPr sz="1575" b="0">
                <a:solidFill>
                  <a:srgbClr val="555B57"/>
                </a:solidFill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Measure: tool success + categorized failure + retry rate.</a:t>
            </a:r>
          </a:p>
        </p:txBody>
      </p:sp>
      <p:sp>
        <p:nvSpPr>
          <p:cNvPr id="11" name="tradeoff-3-circle">
            <a:extLst xmlns:a="http://schemas.openxmlformats.org/drawingml/2006/main">
              <a:ext uri="{FF2B5EF4-FFF2-40B4-BE49-F238E27FC236}">
                <a16:creationId xmlns:a16="http://schemas.microsoft.com/office/drawing/2014/main" id="{727511EB-507D-4C6A-8729-738F41C7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432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7FA82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tradeoff-3-number">
            <a:extLst xmlns:a="http://schemas.openxmlformats.org/drawingml/2006/main">
              <a:ext uri="{FF2B5EF4-FFF2-40B4-BE49-F238E27FC236}">
                <a16:creationId xmlns:a16="http://schemas.microsoft.com/office/drawing/2014/main" id="{BEE1D8DF-41DF-4569-A0EA-6A38AB2F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90875"/>
            <a:ext cx="400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00000"/>
                </a:solidFill>
              </a:defRPr>
            </a:pPr>
            <a:r>
              <a:rPr sz="1350" b="1">
                <a:solidFill>
                  <a:srgbClr val="000000"/>
                </a:solidFill>
              </a:rPr>
              <a:t>03</a:t>
            </a:r>
          </a:p>
        </p:txBody>
      </p:sp>
      <p:sp>
        <p:nvSpPr>
          <p:cNvPr id="13" name="tradeoff-title-3">
            <a:extLst xmlns:a="http://schemas.openxmlformats.org/drawingml/2006/main">
              <a:ext uri="{FF2B5EF4-FFF2-40B4-BE49-F238E27FC236}">
                <a16:creationId xmlns:a16="http://schemas.microsoft.com/office/drawing/2014/main" id="{B4693120-C9D0-4892-B57D-2AF223AC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147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</a:defRPr>
            </a:pPr>
            <a:r>
              <a:rPr sz="2025" b="1">
                <a:solidFill>
                  <a:srgbClr val="000000"/>
                </a:solidFill>
              </a:rPr>
              <a:t>Writes + stale state</a:t>
            </a:r>
          </a:p>
        </p:txBody>
      </p:sp>
      <p:sp>
        <p:nvSpPr>
          <p:cNvPr id="14" name="tradeoff-body-3">
            <a:extLst xmlns:a="http://schemas.openxmlformats.org/drawingml/2006/main">
              <a:ext uri="{FF2B5EF4-FFF2-40B4-BE49-F238E27FC236}">
                <a16:creationId xmlns:a16="http://schemas.microsoft.com/office/drawing/2014/main" id="{53BF6D68-65B3-40E7-8C56-B0A9EB849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57700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Changed details invalidate confirmation.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Duplicates hit the idempotency guard.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55B57"/>
                </a:solidFill>
              </a:defRPr>
            </a:pPr>
            <a:r>
              <a:rPr sz="1575" b="0">
                <a:solidFill>
                  <a:srgbClr val="555B57"/>
                </a:solidFill>
              </a:rP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Measure: unsafe-action rate + task success + p95 latency.</a:t>
            </a:r>
          </a:p>
        </p:txBody>
      </p:sp>
      <p:sp>
        <p:nvSpPr>
          <p:cNvPr id="15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9ACFA469-50E3-4B7E-95DE-8EA497CF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674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6526406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proof-title">
            <a:extLst xmlns:a="http://schemas.openxmlformats.org/drawingml/2006/main">
              <a:ext uri="{FF2B5EF4-FFF2-40B4-BE49-F238E27FC236}">
                <a16:creationId xmlns:a16="http://schemas.microsoft.com/office/drawing/2014/main" id="{43C6FB65-6B3B-4F4F-BAB6-ADE25EDD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"/>
            <a:ext cx="114014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000000"/>
                </a:solidFill>
              </a:defRPr>
            </a:pPr>
            <a:r>
              <a:rPr sz="3600" b="1">
                <a:solidFill>
                  <a:srgbClr val="000000"/>
                </a:solidFill>
              </a:rPr>
              <a:t>Proof now. Harden the command boundary next.</a:t>
            </a:r>
          </a:p>
        </p:txBody>
      </p:sp>
      <p:sp>
        <p:nvSpPr>
          <p:cNvPr id="2" name="proof-kicker">
            <a:extLst xmlns:a="http://schemas.openxmlformats.org/drawingml/2006/main">
              <a:ext uri="{FF2B5EF4-FFF2-40B4-BE49-F238E27FC236}">
                <a16:creationId xmlns:a16="http://schemas.microsoft.com/office/drawing/2014/main" id="{1D244C9D-2241-4850-8ED1-4C4C6E94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2477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F714B"/>
                </a:solidFill>
              </a:defRPr>
            </a:pPr>
            <a:r>
              <a:rPr sz="1350" b="1">
                <a:solidFill>
                  <a:srgbClr val="1F714B"/>
                </a:solidFill>
              </a:rPr>
              <a:t>FIRST PRODUCTION MOVE</a:t>
            </a:r>
          </a:p>
        </p:txBody>
      </p:sp>
      <p:sp>
        <p:nvSpPr>
          <p:cNvPr id="3" name="proof-production-next">
            <a:extLst xmlns:a="http://schemas.openxmlformats.org/drawingml/2006/main">
              <a:ext uri="{FF2B5EF4-FFF2-40B4-BE49-F238E27FC236}">
                <a16:creationId xmlns:a16="http://schemas.microsoft.com/office/drawing/2014/main" id="{64429248-935A-45B2-B9CB-EE77C2E0A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09725"/>
            <a:ext cx="10287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000000"/>
                </a:solidFill>
              </a:defRPr>
            </a:pPr>
            <a:r>
              <a:rPr sz="1950" b="0">
                <a:solidFill>
                  <a:srgbClr val="000000"/>
                </a:solidFill>
              </a:rPr>
              <a:t>Authenticated identity + durable workflow state + audited, idempotent writes—before adding actions.</a:t>
            </a:r>
          </a:p>
        </p:txBody>
      </p:sp>
      <p:sp>
        <p:nvSpPr>
          <p:cNvPr id="4" name="proof-card-1">
            <a:extLst xmlns:a="http://schemas.openxmlformats.org/drawingml/2006/main">
              <a:ext uri="{FF2B5EF4-FFF2-40B4-BE49-F238E27FC236}">
                <a16:creationId xmlns:a16="http://schemas.microsoft.com/office/drawing/2014/main" id="{57641E74-EEF2-43F1-A5B6-650A7E14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19425"/>
            <a:ext cx="3571875" cy="2971800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proof-accent-1">
            <a:extLst xmlns:a="http://schemas.openxmlformats.org/drawingml/2006/main">
              <a:ext uri="{FF2B5EF4-FFF2-40B4-BE49-F238E27FC236}">
                <a16:creationId xmlns:a16="http://schemas.microsoft.com/office/drawing/2014/main" id="{4141FD7C-FF5C-4462-B144-DF69D1CA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019425"/>
            <a:ext cx="357187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A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proof-stat-1">
            <a:extLst xmlns:a="http://schemas.openxmlformats.org/drawingml/2006/main">
              <a:ext uri="{FF2B5EF4-FFF2-40B4-BE49-F238E27FC236}">
                <a16:creationId xmlns:a16="http://schemas.microsoft.com/office/drawing/2014/main" id="{B739C762-2381-44B6-9597-EB950CC2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390900"/>
            <a:ext cx="300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181 / 181</a:t>
            </a:r>
          </a:p>
        </p:txBody>
      </p:sp>
      <p:sp>
        <p:nvSpPr>
          <p:cNvPr id="7" name="proof-title-1">
            <a:extLst xmlns:a="http://schemas.openxmlformats.org/drawingml/2006/main">
              <a:ext uri="{FF2B5EF4-FFF2-40B4-BE49-F238E27FC236}">
                <a16:creationId xmlns:a16="http://schemas.microsoft.com/office/drawing/2014/main" id="{ABEC2FDC-07C4-4AF2-BBCE-13C25398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00575"/>
            <a:ext cx="300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Automated tests</a:t>
            </a:r>
          </a:p>
        </p:txBody>
      </p:sp>
      <p:sp>
        <p:nvSpPr>
          <p:cNvPr id="8" name="proof-body-1">
            <a:extLst xmlns:a="http://schemas.openxmlformats.org/drawingml/2006/main">
              <a:ext uri="{FF2B5EF4-FFF2-40B4-BE49-F238E27FC236}">
                <a16:creationId xmlns:a16="http://schemas.microsoft.com/office/drawing/2014/main" id="{487CCD5F-D39A-4364-93A0-57A9FDBD2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095875"/>
            <a:ext cx="300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Routers, grounding, memory, tools, HTTP, failures, and reset replay.</a:t>
            </a:r>
          </a:p>
        </p:txBody>
      </p:sp>
      <p:sp>
        <p:nvSpPr>
          <p:cNvPr id="9" name="proof-card-2">
            <a:extLst xmlns:a="http://schemas.openxmlformats.org/drawingml/2006/main">
              <a:ext uri="{FF2B5EF4-FFF2-40B4-BE49-F238E27FC236}">
                <a16:creationId xmlns:a16="http://schemas.microsoft.com/office/drawing/2014/main" id="{7BBB9862-70BB-49B6-AA17-6A260809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019425"/>
            <a:ext cx="3571875" cy="2971800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roof-accent-2">
            <a:extLst xmlns:a="http://schemas.openxmlformats.org/drawingml/2006/main">
              <a:ext uri="{FF2B5EF4-FFF2-40B4-BE49-F238E27FC236}">
                <a16:creationId xmlns:a16="http://schemas.microsoft.com/office/drawing/2014/main" id="{0A98FEBE-1B79-4314-88AA-CBD6F301F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019425"/>
            <a:ext cx="357187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1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roof-stat-2">
            <a:extLst xmlns:a="http://schemas.openxmlformats.org/drawingml/2006/main">
              <a:ext uri="{FF2B5EF4-FFF2-40B4-BE49-F238E27FC236}">
                <a16:creationId xmlns:a16="http://schemas.microsoft.com/office/drawing/2014/main" id="{2D9C2AA6-9BCB-4927-BC44-232653922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90900"/>
            <a:ext cx="300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1</a:t>
            </a:r>
          </a:p>
        </p:txBody>
      </p:sp>
      <p:sp>
        <p:nvSpPr>
          <p:cNvPr id="12" name="proof-title-2">
            <a:extLst xmlns:a="http://schemas.openxmlformats.org/drawingml/2006/main">
              <a:ext uri="{FF2B5EF4-FFF2-40B4-BE49-F238E27FC236}">
                <a16:creationId xmlns:a16="http://schemas.microsoft.com/office/drawing/2014/main" id="{6D4E97C8-9C2A-43C6-8655-3B17D937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600575"/>
            <a:ext cx="300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Guarded write path</a:t>
            </a:r>
          </a:p>
        </p:txBody>
      </p:sp>
      <p:sp>
        <p:nvSpPr>
          <p:cNvPr id="13" name="proof-body-2">
            <a:extLst xmlns:a="http://schemas.openxmlformats.org/drawingml/2006/main">
              <a:ext uri="{FF2B5EF4-FFF2-40B4-BE49-F238E27FC236}">
                <a16:creationId xmlns:a16="http://schemas.microsoft.com/office/drawing/2014/main" id="{EB4C5F13-DB92-4811-BC0E-C3E67067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5095875"/>
            <a:ext cx="300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The workflow and createReturn both require explicit confirmation.</a:t>
            </a:r>
          </a:p>
        </p:txBody>
      </p:sp>
      <p:sp>
        <p:nvSpPr>
          <p:cNvPr id="14" name="proof-card-3">
            <a:extLst xmlns:a="http://schemas.openxmlformats.org/drawingml/2006/main">
              <a:ext uri="{FF2B5EF4-FFF2-40B4-BE49-F238E27FC236}">
                <a16:creationId xmlns:a16="http://schemas.microsoft.com/office/drawing/2014/main" id="{09D80232-753B-4BD8-90BF-521BE3A82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19425"/>
            <a:ext cx="3571875" cy="2971800"/>
          </a:xfrm>
          <a:prstGeom xmlns:a="http://schemas.openxmlformats.org/drawingml/2006/main" prst="roundRect">
            <a:avLst>
              <a:gd name="adj" fmla="val 1923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roof-accent-3">
            <a:extLst xmlns:a="http://schemas.openxmlformats.org/drawingml/2006/main">
              <a:ext uri="{FF2B5EF4-FFF2-40B4-BE49-F238E27FC236}">
                <a16:creationId xmlns:a16="http://schemas.microsoft.com/office/drawing/2014/main" id="{33619BC3-9AA1-4B03-8FF3-9A07C4C5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19425"/>
            <a:ext cx="3571875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FA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proof-stat-3">
            <a:extLst xmlns:a="http://schemas.openxmlformats.org/drawingml/2006/main">
              <a:ext uri="{FF2B5EF4-FFF2-40B4-BE49-F238E27FC236}">
                <a16:creationId xmlns:a16="http://schemas.microsoft.com/office/drawing/2014/main" id="{DF8EC73C-C7F6-4F6E-AA53-10DFAC7F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390900"/>
            <a:ext cx="3000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3</a:t>
            </a:r>
          </a:p>
        </p:txBody>
      </p:sp>
      <p:sp>
        <p:nvSpPr>
          <p:cNvPr id="17" name="proof-title-3">
            <a:extLst xmlns:a="http://schemas.openxmlformats.org/drawingml/2006/main">
              <a:ext uri="{FF2B5EF4-FFF2-40B4-BE49-F238E27FC236}">
                <a16:creationId xmlns:a16="http://schemas.microsoft.com/office/drawing/2014/main" id="{A2EF2670-0A14-4E4A-9A5B-DB60F9005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600575"/>
            <a:ext cx="300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</a:defRPr>
            </a:pPr>
            <a:r>
              <a:rPr sz="1875" b="1">
                <a:solidFill>
                  <a:srgbClr val="000000"/>
                </a:solidFill>
              </a:rPr>
              <a:t>Grounded FAQ topics</a:t>
            </a:r>
          </a:p>
        </p:txBody>
      </p:sp>
      <p:sp>
        <p:nvSpPr>
          <p:cNvPr id="18" name="proof-body-3">
            <a:extLst xmlns:a="http://schemas.openxmlformats.org/drawingml/2006/main">
              <a:ext uri="{FF2B5EF4-FFF2-40B4-BE49-F238E27FC236}">
                <a16:creationId xmlns:a16="http://schemas.microsoft.com/office/drawing/2014/main" id="{C280148D-A93D-45A7-9669-D372C9F5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5095875"/>
            <a:ext cx="30003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55B57"/>
                </a:solidFill>
              </a:defRPr>
            </a:pPr>
            <a:r>
              <a:rPr sz="1350" b="0">
                <a:solidFill>
                  <a:srgbClr val="555B57"/>
                </a:solidFill>
              </a:rPr>
              <a:t>Shipping times, return policy, and password reset; unsupported questions hand off.</a:t>
            </a:r>
          </a:p>
        </p:txBody>
      </p:sp>
      <p:sp>
        <p:nvSpPr>
          <p:cNvPr id="19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BC0FC70D-E2BA-48D8-9513-0EF87C9D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2674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r">
              <a:buNone/>
              <a:defRPr sz="975" b="0">
                <a:solidFill>
                  <a:srgbClr val="000000"/>
                </a:solidFill>
              </a:defRPr>
            </a:pPr>
            <a:r>
              <a:rPr sz="975" b="0">
                <a:solidFill>
                  <a:srgbClr val="000000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9762044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2026-08-11T01:08:08.4210000Z</dcterms:created>
  <dcterms:modified xsi:type="dcterms:W3CDTF">2026-08-11T01:08:08.4210000Z</dcterms:modified>
</coreProperties>
</file>